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[ENGLISH SPEAKER SCRIPT]</a:t>
            </a:r>
          </a:p>
          <a:p>
            <a:r>
              <a:t>Good morning, esteemed TSMC OIP partners and semiconductor architects. Today, we address a critical security challenge facing advanced node SoCs: 'Mitigating OTP Data Leakage Risks in Advanced SoCs Through Secure Storage Architectures.'</a:t>
            </a:r>
          </a:p>
          <a:p>
            <a:r>
              <a:t>Recent public hacking challenges, such as the Raspberry Pi RP2350 disclosure, have demonstrated that conventional AntiFuse OTP memory bits are physically observable under voltage fault injection and Focused Ion Beam (FIB) / Passive Voltage Contrast (PVC) probing. When root keys or firmware secrets are directly stored in OTP, physical readout leads to complete IP theft and device cloning.</a:t>
            </a:r>
          </a:p>
          <a:p>
            <a:r>
              <a:t>Our Secure Storage solution integrates SRAM PUF, AES-256 hardware crypto engines, AntiFuse OTP, and a Secure Controller into a single pre-integrated IP subsystem, ensuring that root keys are dynamically generated at power-up and never stored on-chip, turning OTP into a cryptographically protected repository.</a:t>
            </a:r>
          </a:p>
          <a:p/>
          <a:p>
            <a:r>
              <a:t>[中文講者備忘與論述重點]</a:t>
            </a:r>
          </a:p>
          <a:p>
            <a:r>
              <a:t>各位 TSMC OIP 夥伴與晶片架構師好。今天報告的主題聚焦於先進製程 SoC 中的 OTP 資料外洩防護。</a:t>
            </a:r>
          </a:p>
          <a:p>
            <a:r>
              <a:t>從 Raspberry Pi RP2350 公開挑戰賽可知，傳統 AntiFuse OTP 記憶體在 FIB/PVC 與電壓故障注入下，其實體 0/1 位元已不再具備物理不透明性。若直接於 OTP 存放根金鑰，將面臨災難性的複製風險。</a:t>
            </a:r>
          </a:p>
          <a:p>
            <a:r>
              <a:t>本 Secure Storage 架構將 SRAM PUF（動態根金鑰）、AES-256（硬體全加密）、AntiFuse OTP（亂序密文）與安全控制器整合為單一硬體子系統，達成『永久保存資料，根金鑰斷電零駐留』的根本安全突破。</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[ENGLISH SPEAKER SCRIPT]</a:t>
            </a:r>
          </a:p>
          <a:p>
            <a:r>
              <a:t>The highest level of hardware security is determined by what remains on the silicon when the system is powered down.</a:t>
            </a:r>
          </a:p>
          <a:p>
            <a:r>
              <a:t>Traditional OTP solves the retention problem, but fails the confidentiality challenge under invasive physical inspection. In our Secure Storage architecture, when power is removed, the SRAM PUF cells retain zero charge and zero state—the root key simply does not exist. Only scrambled AES-256 ciphertext remains in OTP. At power-up, the device reconstructs its unique root key on the fly within the secure hardware boundary, ensuring zero permanent key exposure.</a:t>
            </a:r>
          </a:p>
          <a:p/>
          <a:p>
            <a:r>
              <a:t>[中文講者備忘與論述重點]</a:t>
            </a:r>
          </a:p>
          <a:p>
            <a:r>
              <a:t>硬體安全的最高防線取決於斷電時晶片中還留下什麼。</a:t>
            </a:r>
          </a:p>
          <a:p>
            <a:r>
              <a:t>傳統 OTP 僅保證了資料留存 (Retention)，但無法保證實體機密性 (Confidentiality)。Secure Storage 的核心設計在於：斷電時 SRAM PUF 無任何電荷與金鑰殘留，OTP 內僅有 AES-256 密文；上電時才在內部安全邊界重建金鑰並即時解密，徹底杜絕晶片靜態提取風險。</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[ENGLISH SPEAKER SCRIPT]</a:t>
            </a:r>
          </a:p>
          <a:p>
            <a:r>
              <a:t>The RP2350 Hacking Challenge results in early 2025 served as a critical wake-up call for the semiconductor industry.</a:t>
            </a:r>
          </a:p>
          <a:p>
            <a:r>
              <a:t>Security researchers (such as IOActive) demonstrated that standard failure analysis equipment—specifically Focused Ion Beam (FIB) and Passive Voltage Contrast (PVC)—can directly inspect the physical programmed state of antifuse cells. Combined with voltage glitching during boot to bypass software permission wrappers, the raw bits of plain OTP were fully recovered.</a:t>
            </a:r>
          </a:p>
          <a:p>
            <a:r>
              <a:t>This proves that bit-cell opacity is not a sufficient defense. Our design response is clear: we assume the physical layer can eventually be imaged, but ensure that any extracted bitstream is cryptographically uncrackable ciphertext.</a:t>
            </a:r>
          </a:p>
          <a:p/>
          <a:p>
            <a:r>
              <a:t>[中文講者備忘與論述重點]</a:t>
            </a:r>
          </a:p>
          <a:p>
            <a:r>
              <a:t>RP2350 挑戰賽證實：硬體逆向工程團隊可利用標準失效分析設備（FIB 與被動電壓對比 PVC），直接讀出 AntiFuse 擊穿位元。</a:t>
            </a:r>
          </a:p>
          <a:p>
            <a:r>
              <a:t>若加上開機時序的電壓微擾 (Voltage Glitch)，傳統的暫存器鎖定與軟體保護將被輕易繞過。因此，系統架構不能假設『位元永遠無法被讀出』，而必須以密碼學手段確保『讀出結果僅為隨機密文』。</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[ENGLISH SPEAKER SCRIPT]</a:t>
            </a:r>
          </a:p>
          <a:p>
            <a:r>
              <a:t>Here we illustrate the four-tier defense-in-depth pipeline.</a:t>
            </a:r>
          </a:p>
          <a:p>
            <a:r>
              <a:t>When high-value assets—such as AI model keys, firmware counters, or device identities—enter the subsystem, they are encrypted via AES-256 using keys derived on-the-fly from the SRAM PUF root. The resulting ciphertext is then scrambled across physical rows and columns before programming into the 1T antifuse array.</a:t>
            </a:r>
          </a:p>
          <a:p>
            <a:r>
              <a:t>This creates an impenetrable dual barrier: address scrambling dramatically elevates the reverse engineering cost of physical reconstruction, while AES-256 provides mathematical confidentiality against raw bit recovery.</a:t>
            </a:r>
          </a:p>
          <a:p/>
          <a:p>
            <a:r>
              <a:t>[中文講者備忘與論述重點]</a:t>
            </a:r>
          </a:p>
          <a:p>
            <a:r>
              <a:t>本頁闡述四層多維度縱深防禦管線。</a:t>
            </a:r>
          </a:p>
          <a:p>
            <a:r>
              <a:t>敏感資產（AI 權重金鑰、防回滾計數器、私鑰）在寫入前，先經由 PUF 衍生金鑰進行 AES-256 加密，再經由位址混淆器 (Address Scrambler) 打亂邏輯對實體陣列的映射，最終寫入 1T 差動 AntiFuse 陣列。位址混淆提高尋址逆向成本，AES-256 建立數學級防線。</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[ENGLISH SPEAKER SCRIPT]</a:t>
            </a:r>
          </a:p>
          <a:p>
            <a:r>
              <a:t>A common pitfall in SoC security is assembling discrete IP blocks from different vendors—purchasing PUF from Vendor A, Controller from Vendor B, and OTP from Vendor C. Such fragmented architectures create unverified hand-offs, bus probe exposures, and reset synchronization glitches.</a:t>
            </a:r>
          </a:p>
          <a:p>
            <a:r>
              <a:t>Our Secure Storage IP delivers a pre-integrated, monolithic hardware subsystem. Key generation, cryptographic acceleration, address scrambling, and NVM access are entirely enclosed within a certified internal trust boundary, presenting only a clean, policy-protected APB interface to the host SoC.</a:t>
            </a:r>
          </a:p>
          <a:p/>
          <a:p>
            <a:r>
              <a:t>[中文講者備忘與論述重點]</a:t>
            </a:r>
          </a:p>
          <a:p>
            <a:r>
              <a:t>晶片安全最常見的破口往往是不同供應商 IP 之間的串接縫隙（如重置競爭、匯流排探針暴露）。</a:t>
            </a:r>
          </a:p>
          <a:p>
            <a:r>
              <a:t>Secure Storage 提供四合一單一 IP 交付：SRAM PUF、AES-256 引擎、AntiFuse OTP 與安全控制器封閉於同一硬體信任邊界內，向外部 SoC 僅暴露受保護的標準 APB 介面，消弭跨區塊假設風險。</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[ENGLISH SPEAKER SCRIPT]</a:t>
            </a:r>
          </a:p>
          <a:p>
            <a:r>
              <a:t>Key management philosophy must focus on 'Minimizing Key Residency' rather than merely attempting to conceal stored keys.</a:t>
            </a:r>
          </a:p>
          <a:p>
            <a:r>
              <a:t>Our hardware state machine ensures that root key material exists only during the brief execution window required for cryptographic operations. As soon as reading, writing, or authentication is complete—or if a physical tamper event is detected—the controller executes hardware zeroization, flushing all key latches to zero in a single clock cycle.</a:t>
            </a:r>
          </a:p>
          <a:p/>
          <a:p>
            <a:r>
              <a:t>[中文講者備忘與論述重點]</a:t>
            </a:r>
          </a:p>
          <a:p>
            <a:r>
              <a:t>密鑰管理的核心準則是『Minimize Key Residency（最小化金鑰駐留時間）』。</a:t>
            </a:r>
          </a:p>
          <a:p>
            <a:r>
              <a:t>透過硬體狀態機控管，根金鑰僅在執行加解密時暫態存在。一旦操作完成或觸發入侵微擾偵測，硬體控制器會在一週期內執行 Zeroization（強制清零），徹底消除側信道洩漏的時間窗口。</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[ENGLISH SPEAKER SCRIPT]</a:t>
            </a:r>
          </a:p>
          <a:p>
            <a:r>
              <a:t>A common technical question is: 'Does storing the Activation Code (helper data) publicly create a new attack vector?'</a:t>
            </a:r>
          </a:p>
          <a:p>
            <a:r>
              <a:t>The answer is an unequivocal no. The fuzzy extractor is constructed with information-theoretic security guarantees. The Activation Code consists purely of error-correction syndrome offsets. In information theory terms, the mutual Shannon information between the public helper data and the derived 256-bit secret key is mathematically zero. An adversary with infinite computing power cannot extract the key from the helper data alone.</a:t>
            </a:r>
          </a:p>
          <a:p/>
          <a:p>
            <a:r>
              <a:t>[中文講者備忘與論述重點]</a:t>
            </a:r>
          </a:p>
          <a:p>
            <a:r>
              <a:t>針對客戶常見的疑問：『公開存放的 Activation Code（輔助資料）是否會洩漏金鑰？』</a:t>
            </a:r>
          </a:p>
          <a:p>
            <a:r>
              <a:t>SRAM PUF 模糊提取器 (Fuzzy Extractor) 具備資訊理論安全性 (Information-Theoretic Security)。Activation Code 僅記錄糾錯症狀碼 (Syndrome)，其與最終 256-bit 金鑰之互資訊量 (Mutual Information) 嚴格為零，無任何密鑰位元洩漏風險。</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[ENGLISH SPEAKER SCRIPT]</a:t>
            </a:r>
          </a:p>
          <a:p>
            <a:r>
              <a:t>Security claims must be backed by massive production maturity and stringent third-party certifications.</a:t>
            </a:r>
          </a:p>
          <a:p>
            <a:r>
              <a:t>SRAM PUF technology has been deployed in more than 1.5 billion commercial devices over 15+ years, spanning defense, aerospace, automotive, and IoT. Operating reliably across -40°C to 150°C with zero key error rate (0 ppm KER), it holds PSA Certified Level 3 and SESIP Level 3 accreditations. Because it relies on standard CMOS mismatch, it ports seamlessly across process nodes without requiring exotic foundry steps.</a:t>
            </a:r>
          </a:p>
          <a:p/>
          <a:p>
            <a:r>
              <a:t>[中文講者備忘與論述重點]</a:t>
            </a:r>
          </a:p>
          <a:p>
            <a:r>
              <a:t>SRAM PUF 技術具備超過 15 億顆晶片量產實績與 15 年以上商用經驗（廣泛用於航太、國防與車用晶片）。</a:t>
            </a:r>
          </a:p>
          <a:p>
            <a:r>
              <a:t>在 -40°C 至 150°C 寬溫域與 15 年老化模型下維持 0 ppm 金鑰重建錯誤率。並通過 AEC-Q100 Grade 1、PSA Level 3、SESIP Level 3 與 NIST CAVP 國際權威認證。</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[ENGLISH SPEAKER SCRIPT]</a:t>
            </a:r>
          </a:p>
          <a:p>
            <a:r>
              <a:t>Security is an integrated property, not a catalog of separate primitives.</a:t>
            </a:r>
          </a:p>
          <a:p>
            <a:r>
              <a:t>When SoC teams buy separate security blocks from disparate suppliers, integration bugs and unverified reset states create severe vulnerability windows. With our Secure Storage solution, customers license a unified five-pillar system (Root, Crypto, Storage, Control, Lifecycle) under a single contract with guaranteed silicon closure and dedicated qualification collateral.</a:t>
            </a:r>
          </a:p>
          <a:p/>
          <a:p>
            <a:r>
              <a:t>[中文講者備忘與論述重點]</a:t>
            </a:r>
          </a:p>
          <a:p>
            <a:r>
              <a:t>安全是系統整合的結果，而非零散元件的拼湊。</a:t>
            </a:r>
          </a:p>
          <a:p>
            <a:r>
              <a:t>若分別採購 PUF、控制器與 OTP，整合時的時序與重置漏洞往往成為攻擊目標。本方案以單一 IP 交付五大支柱（Root, Crypto, Storage, Control, Lifecycle），為客戶提供單一責任窗口與完整的流片前驗證保證。</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[ENGLISH SPEAKER SCRIPT]</a:t>
            </a:r>
          </a:p>
          <a:p>
            <a:r>
              <a:t>Within the TSMC Open Innovation Platform (OIP), we deliver comprehensive silicon correlation across all flagship nodes, including N7, N6, N5, N4P, and N3P, as well as automotive N7A and N5A variants.</a:t>
            </a:r>
          </a:p>
          <a:p>
            <a:r>
              <a:t>We adhere to the 'Evidence Closure' principle: we provide customers with exhaustive PVT characterization tables, fault injection resistance reports, and physical FIB/PVC analysis data, ensuring first-time-right and first-time-secure silicon execution.</a:t>
            </a:r>
          </a:p>
          <a:p/>
          <a:p>
            <a:r>
              <a:t>[中文講者備忘與論述重點]</a:t>
            </a:r>
          </a:p>
          <a:p>
            <a:r>
              <a:t>在 TSMC OIP 架構下，本方案全面支援 N7、N6、N5、N4P、N3P 及車規 N7A/N5A 節點。</a:t>
            </a:r>
          </a:p>
          <a:p>
            <a:r>
              <a:t>我們堅持『Evidence Closure（證據閉環）』原則：提供完整的矽關聯報告、故障注入 (FI) 與 FIB/PVC 實體測試數據，並交付完整 GDSII/LEF/LIB/Verilog 檔案，確保一次流片即成功。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[ENGLISH SPEAKER SCRIPT]</a:t>
            </a:r>
          </a:p>
          <a:p>
            <a:r>
              <a:t>In conclusion, conventional plain OTP architectures can no longer safeguard sensitive secrets against modern invasive physical attacks.</a:t>
            </a:r>
          </a:p>
          <a:p>
            <a:r>
              <a:t>By fundamentally decoupling physical non-volatile storage from usable cryptographic root keys, Secure Storage converts OTP from an observable attack surface into a cryptographically protected repository. This guarantees first-time-secure silicon for AI, automotive, and HPC applications while protecting corporate IP and time-to-market. Thank you, and we welcome your questions.</a:t>
            </a:r>
          </a:p>
          <a:p/>
          <a:p>
            <a:r>
              <a:t>[中文講者備忘與論述重點]</a:t>
            </a:r>
          </a:p>
          <a:p>
            <a:r>
              <a:t>總結而言，傳統 Plain OTP 架構已無法抵禦現代侵入式實體攻擊。</a:t>
            </a:r>
          </a:p>
          <a:p>
            <a:r>
              <a:t>Secure Storage 透過『解耦物理儲存與可用秘密』，將 OTP 轉化為受密碼學保護的密文儲存庫，實現『OTP 讀出 ≠ 秘密外洩』。為 AI、車用、IoT 與 HPC 晶片提供 First-Time-Secure 矽智財保證，大幅降低流片失敗風險。</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[ENGLISH SPEAKER SCRIPT]</a:t>
            </a:r>
          </a:p>
          <a:p>
            <a:r>
              <a:t>This technical appendix is reserved for deep-dive Q&amp;A discussions regarding the exact physical mechanisms demonstrated in the RP2350 challenge.</a:t>
            </a:r>
          </a:p>
          <a:p>
            <a:r>
              <a:t>We dissect the four critical attack paths—voltage fault injection, invasive FIB/PVC imaging, sensor evasion, and permission collapse—and demonstrate how Secure Storage creates a closed-loop cryptographic defense against each vector. Even if every detector is bypassed and every bit is physically imaged, the adversary cannot extract the ephemeral SRAM PUF root key.</a:t>
            </a:r>
          </a:p>
          <a:p/>
          <a:p>
            <a:r>
              <a:t>[中文講者備忘與論述重點]</a:t>
            </a:r>
          </a:p>
          <a:p>
            <a:r>
              <a:t>本技術附錄供 Q&amp;A 環節深入探討 RP2350 實體攻擊途徑與防禦閉環。</a:t>
            </a:r>
          </a:p>
          <a:p>
            <a:r>
              <a:t>分析涵蓋電壓故障注入 (FI)、FIB/PVC 被動電壓對比、感測器規避與權限崩塌四大路徑，說明 Secure Storage 如何以 AES-256 加密、位址混淆與動態無常駐 PUF 金鑰達成完整的防禦閉環。</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1B29"/>
        </a:solidFill>
        <a:effectLst/>
      </p:bgPr>
    </p:bg>
    <p:spTree>
      <p:nvGrpSpPr>
        <p:cNvPr id="1" name=""/>
        <p:cNvGrpSpPr/>
        <p:nvPr/>
      </p:nvGrpSpPr>
      <p:grpSpPr/>
      <p:sp>
        <p:nvSpPr>
          <p:cNvPr id="2" name="TextBox 1"/>
          <p:cNvSpPr txBox="1"/>
          <p:nvPr/>
        </p:nvSpPr>
        <p:spPr>
          <a:xfrm>
            <a:off x="731520" y="594360"/>
            <a:ext cx="10789920" cy="1645920"/>
          </a:xfrm>
          <a:prstGeom prst="rect">
            <a:avLst/>
          </a:prstGeom>
          <a:noFill/>
        </p:spPr>
        <p:txBody>
          <a:bodyPr wrap="square">
            <a:spAutoFit/>
          </a:bodyPr>
          <a:lstStyle/>
          <a:p>
            <a:pPr>
              <a:spcAft>
                <a:spcPts val="500"/>
              </a:spcAft>
              <a:defRPr sz="1050" b="1">
                <a:solidFill>
                  <a:srgbClr val="00F0FF"/>
                </a:solidFill>
              </a:defRPr>
            </a:pPr>
            <a:r>
              <a:t>TSMC OIP TECHNICAL BRIEFING · AUGUST 2026</a:t>
            </a:r>
          </a:p>
          <a:p>
            <a:pPr>
              <a:defRPr sz="2300" b="1">
                <a:solidFill>
                  <a:srgbClr val="FFFFFF"/>
                </a:solidFill>
              </a:defRPr>
            </a:pPr>
            <a:r>
              <a:t>Mitigating OTP Data Leakage Risks in Advanced SoCs</a:t>
            </a:r>
          </a:p>
          <a:p>
            <a:pPr>
              <a:spcAft>
                <a:spcPts val="400"/>
              </a:spcAft>
              <a:defRPr sz="1300" b="1">
                <a:solidFill>
                  <a:srgbClr val="38BDF8"/>
                </a:solidFill>
              </a:defRPr>
            </a:pPr>
            <a:r>
              <a:t>Eliminating Raw Data Exposure in Leading-Edge Silicon Through Secure Storage Architectures</a:t>
            </a:r>
          </a:p>
          <a:p>
            <a:pPr>
              <a:defRPr sz="1000">
                <a:solidFill>
                  <a:srgbClr val="94A3B8"/>
                </a:solidFill>
              </a:defRPr>
            </a:pPr>
            <a:r>
              <a:t>SRAM PUF (Dynamic Root)  +  AES-256 (Line-Speed Cipher)  +  AntiFuse OTP (Scrambled Matrix)  +  Secure Controller</a:t>
            </a:r>
          </a:p>
        </p:txBody>
      </p:sp>
      <p:pic>
        <p:nvPicPr>
          <p:cNvPr id="3" name="Picture 2" descr="ai_visual_slide_01.jpg"/>
          <p:cNvPicPr>
            <a:picLocks noChangeAspect="1"/>
          </p:cNvPicPr>
          <p:nvPr/>
        </p:nvPicPr>
        <p:blipFill>
          <a:blip r:embed="rId2"/>
          <a:stretch>
            <a:fillRect/>
          </a:stretch>
        </p:blipFill>
        <p:spPr>
          <a:xfrm>
            <a:off x="731520" y="2240280"/>
            <a:ext cx="10728655" cy="3886200"/>
          </a:xfrm>
          <a:prstGeom prst="rect">
            <a:avLst/>
          </a:prstGeom>
        </p:spPr>
      </p:pic>
      <p:sp>
        <p:nvSpPr>
          <p:cNvPr id="4" name="TextBox 3"/>
          <p:cNvSpPr txBox="1"/>
          <p:nvPr/>
        </p:nvSpPr>
        <p:spPr>
          <a:xfrm>
            <a:off x="731520" y="6355080"/>
            <a:ext cx="6858000" cy="274320"/>
          </a:xfrm>
          <a:prstGeom prst="rect">
            <a:avLst/>
          </a:prstGeom>
          <a:noFill/>
        </p:spPr>
        <p:txBody>
          <a:bodyPr wrap="none">
            <a:spAutoFit/>
          </a:bodyPr>
          <a:lstStyle/>
          <a:p>
            <a:pPr>
              <a:defRPr sz="800">
                <a:solidFill>
                  <a:srgbClr val="94A3B8"/>
                </a:solidFill>
              </a:defRPr>
            </a:pPr>
            <a:r>
              <a:t>TSMC OIP TECHNICAL BRIEFING  |  SECURE STORAGE ARCHITECTURES  |  CONFIDENTIAL</a:t>
            </a:r>
          </a:p>
        </p:txBody>
      </p:sp>
      <p:sp>
        <p:nvSpPr>
          <p:cNvPr id="5" name="TextBox 4"/>
          <p:cNvSpPr txBox="1"/>
          <p:nvPr/>
        </p:nvSpPr>
        <p:spPr>
          <a:xfrm>
            <a:off x="6858000" y="6355080"/>
            <a:ext cx="4572000" cy="274320"/>
          </a:xfrm>
          <a:prstGeom prst="rect">
            <a:avLst/>
          </a:prstGeom>
          <a:noFill/>
        </p:spPr>
        <p:txBody>
          <a:bodyPr wrap="none">
            <a:spAutoFit/>
          </a:bodyPr>
          <a:lstStyle/>
          <a:p>
            <a:pPr algn="r">
              <a:defRPr sz="800" b="1">
                <a:solidFill>
                  <a:srgbClr val="38BDF8"/>
                </a:solidFill>
              </a:defRPr>
            </a:pPr>
            <a:r>
              <a:t>Core Thesis: Decouple physical storage from usable cryptographic secrets.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61B29"/>
        </a:solidFill>
        <a:effectLst/>
      </p:bgPr>
    </p:bg>
    <p:spTree>
      <p:nvGrpSpPr>
        <p:cNvPr id="1" name=""/>
        <p:cNvGrpSpPr/>
        <p:nvPr/>
      </p:nvGrpSpPr>
      <p:grpSpPr/>
      <p:sp>
        <p:nvSpPr>
          <p:cNvPr id="2" name="TextBox 1"/>
          <p:cNvSpPr txBox="1"/>
          <p:nvPr/>
        </p:nvSpPr>
        <p:spPr>
          <a:xfrm>
            <a:off x="731520" y="365760"/>
            <a:ext cx="9601200" cy="320040"/>
          </a:xfrm>
          <a:prstGeom prst="rect">
            <a:avLst/>
          </a:prstGeom>
          <a:noFill/>
        </p:spPr>
        <p:txBody>
          <a:bodyPr wrap="square">
            <a:spAutoFit/>
          </a:bodyPr>
          <a:lstStyle/>
          <a:p>
            <a:pPr>
              <a:defRPr sz="1000" b="1">
                <a:solidFill>
                  <a:srgbClr val="00F0FF"/>
                </a:solidFill>
              </a:defRPr>
            </a:pPr>
            <a:r>
              <a:t>01 / THE EXECUTIVE THESIS</a:t>
            </a:r>
          </a:p>
        </p:txBody>
      </p:sp>
      <p:sp>
        <p:nvSpPr>
          <p:cNvPr id="3" name="TextBox 2"/>
          <p:cNvSpPr txBox="1"/>
          <p:nvPr/>
        </p:nvSpPr>
        <p:spPr>
          <a:xfrm>
            <a:off x="731520" y="658368"/>
            <a:ext cx="9601200" cy="548640"/>
          </a:xfrm>
          <a:prstGeom prst="rect">
            <a:avLst/>
          </a:prstGeom>
          <a:noFill/>
        </p:spPr>
        <p:txBody>
          <a:bodyPr wrap="square">
            <a:spAutoFit/>
          </a:bodyPr>
          <a:lstStyle/>
          <a:p>
            <a:pPr>
              <a:defRPr sz="1800" b="1">
                <a:solidFill>
                  <a:srgbClr val="FFFFFF"/>
                </a:solidFill>
              </a:defRPr>
            </a:pPr>
            <a:r>
              <a:t>Security is Decided When the System is Powered Off</a:t>
            </a:r>
          </a:p>
        </p:txBody>
      </p:sp>
      <p:sp>
        <p:nvSpPr>
          <p:cNvPr id="4" name="TextBox 3"/>
          <p:cNvSpPr txBox="1"/>
          <p:nvPr/>
        </p:nvSpPr>
        <p:spPr>
          <a:xfrm>
            <a:off x="731520" y="1188720"/>
            <a:ext cx="9601200" cy="320040"/>
          </a:xfrm>
          <a:prstGeom prst="rect">
            <a:avLst/>
          </a:prstGeom>
          <a:noFill/>
        </p:spPr>
        <p:txBody>
          <a:bodyPr wrap="square">
            <a:spAutoFit/>
          </a:bodyPr>
          <a:lstStyle/>
          <a:p>
            <a:pPr>
              <a:defRPr sz="1050">
                <a:solidFill>
                  <a:srgbClr val="94A3B8"/>
                </a:solidFill>
              </a:defRPr>
            </a:pPr>
            <a:r>
              <a:t>Durable Storage Decoupled from Permanent Root Key Persistence</a:t>
            </a:r>
          </a:p>
        </p:txBody>
      </p:sp>
      <p:sp>
        <p:nvSpPr>
          <p:cNvPr id="5" name="TextBox 4"/>
          <p:cNvSpPr txBox="1"/>
          <p:nvPr/>
        </p:nvSpPr>
        <p:spPr>
          <a:xfrm>
            <a:off x="10789920" y="411480"/>
            <a:ext cx="822960" cy="365760"/>
          </a:xfrm>
          <a:prstGeom prst="rect">
            <a:avLst/>
          </a:prstGeom>
          <a:noFill/>
        </p:spPr>
        <p:txBody>
          <a:bodyPr wrap="none">
            <a:spAutoFit/>
          </a:bodyPr>
          <a:lstStyle/>
          <a:p>
            <a:pPr algn="r">
              <a:defRPr sz="1150" b="1">
                <a:solidFill>
                  <a:srgbClr val="00F0FF"/>
                </a:solidFill>
              </a:defRPr>
            </a:pPr>
            <a:r>
              <a:t>02 / 12</a:t>
            </a:r>
          </a:p>
        </p:txBody>
      </p:sp>
      <p:sp>
        <p:nvSpPr>
          <p:cNvPr id="6" name="Rounded Rectangle 5"/>
          <p:cNvSpPr/>
          <p:nvPr/>
        </p:nvSpPr>
        <p:spPr>
          <a:xfrm>
            <a:off x="731520" y="1600200"/>
            <a:ext cx="4114800" cy="2194560"/>
          </a:xfrm>
          <a:prstGeom prst="roundRect">
            <a:avLst/>
          </a:prstGeom>
          <a:solidFill>
            <a:srgbClr val="0B2538"/>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09928"/>
            <a:ext cx="3840480" cy="1975104"/>
          </a:xfrm>
          <a:prstGeom prst="rect">
            <a:avLst/>
          </a:prstGeom>
          <a:noFill/>
        </p:spPr>
        <p:txBody>
          <a:bodyPr wrap="square">
            <a:spAutoFit/>
          </a:bodyPr>
          <a:lstStyle/>
          <a:p>
            <a:pPr>
              <a:spcAft>
                <a:spcPts val="400"/>
              </a:spcAft>
              <a:defRPr sz="1100" b="1">
                <a:solidFill>
                  <a:srgbClr val="EF4444"/>
                </a:solidFill>
              </a:defRPr>
            </a:pPr>
            <a:r>
              <a:t>Power-Off State (At-Rest Security)</a:t>
            </a:r>
          </a:p>
          <a:p>
            <a:pPr>
              <a:spcAft>
                <a:spcPts val="300"/>
              </a:spcAft>
              <a:defRPr sz="900">
                <a:solidFill>
                  <a:srgbClr val="FFFFFF"/>
                </a:solidFill>
              </a:defRPr>
            </a:pPr>
            <a:r>
              <a:t>• SRAM PUF unpowered: Root key is physically ABSENT</a:t>
            </a:r>
          </a:p>
          <a:p>
            <a:pPr>
              <a:spcAft>
                <a:spcPts val="300"/>
              </a:spcAft>
              <a:defRPr sz="900">
                <a:solidFill>
                  <a:srgbClr val="FFFFFF"/>
                </a:solidFill>
              </a:defRPr>
            </a:pPr>
            <a:r>
              <a:t>• AntiFuse OTP retains only AES-256 scrambled ciphertext</a:t>
            </a:r>
          </a:p>
          <a:p>
            <a:pPr>
              <a:spcAft>
                <a:spcPts val="300"/>
              </a:spcAft>
              <a:defRPr sz="900">
                <a:solidFill>
                  <a:srgbClr val="FFFFFF"/>
                </a:solidFill>
              </a:defRPr>
            </a:pPr>
            <a:r>
              <a:t>• Invasive physical readout recovers zero usable root secrets</a:t>
            </a:r>
          </a:p>
          <a:p>
            <a:pPr>
              <a:spcAft>
                <a:spcPts val="300"/>
              </a:spcAft>
              <a:defRPr sz="900">
                <a:solidFill>
                  <a:srgbClr val="FFFFFF"/>
                </a:solidFill>
              </a:defRPr>
            </a:pPr>
            <a:r>
              <a:t>• Eliminates the static at-rest attack surface of NVM/OTP-PUFs</a:t>
            </a:r>
          </a:p>
        </p:txBody>
      </p:sp>
      <p:sp>
        <p:nvSpPr>
          <p:cNvPr id="8" name="Rounded Rectangle 7"/>
          <p:cNvSpPr/>
          <p:nvPr/>
        </p:nvSpPr>
        <p:spPr>
          <a:xfrm>
            <a:off x="731520" y="3931920"/>
            <a:ext cx="4114800" cy="2240280"/>
          </a:xfrm>
          <a:prstGeom prst="roundRect">
            <a:avLst/>
          </a:prstGeom>
          <a:solidFill>
            <a:srgbClr val="0B2538"/>
          </a:solidFill>
          <a:ln w="1524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041648"/>
            <a:ext cx="3840480" cy="2020824"/>
          </a:xfrm>
          <a:prstGeom prst="rect">
            <a:avLst/>
          </a:prstGeom>
          <a:noFill/>
        </p:spPr>
        <p:txBody>
          <a:bodyPr wrap="square">
            <a:spAutoFit/>
          </a:bodyPr>
          <a:lstStyle/>
          <a:p>
            <a:pPr>
              <a:spcAft>
                <a:spcPts val="400"/>
              </a:spcAft>
              <a:defRPr sz="1100" b="1">
                <a:solidFill>
                  <a:srgbClr val="00F0FF"/>
                </a:solidFill>
              </a:defRPr>
            </a:pPr>
            <a:r>
              <a:t>Power-Up State (Active Runtime Reconstruction)</a:t>
            </a:r>
          </a:p>
          <a:p>
            <a:pPr>
              <a:spcAft>
                <a:spcPts val="300"/>
              </a:spcAft>
              <a:defRPr sz="900">
                <a:solidFill>
                  <a:srgbClr val="FFFFFF"/>
                </a:solidFill>
              </a:defRPr>
            </a:pPr>
            <a:r>
              <a:t>• Transistor mismatch dynamically reconstructs 256-bit key</a:t>
            </a:r>
          </a:p>
          <a:p>
            <a:pPr>
              <a:spcAft>
                <a:spcPts val="300"/>
              </a:spcAft>
              <a:defRPr sz="900">
                <a:solidFill>
                  <a:srgbClr val="FFFFFF"/>
                </a:solidFill>
              </a:defRPr>
            </a:pPr>
            <a:r>
              <a:t>• Root key restricted entirely within hardware trust boundary</a:t>
            </a:r>
          </a:p>
          <a:p>
            <a:pPr>
              <a:spcAft>
                <a:spcPts val="300"/>
              </a:spcAft>
              <a:defRPr sz="900">
                <a:solidFill>
                  <a:srgbClr val="FFFFFF"/>
                </a:solidFill>
              </a:defRPr>
            </a:pPr>
            <a:r>
              <a:t>• On-the-fly decryption buffer instantly zeroized after task</a:t>
            </a:r>
          </a:p>
          <a:p>
            <a:pPr>
              <a:spcAft>
                <a:spcPts val="300"/>
              </a:spcAft>
              <a:defRPr sz="900">
                <a:solidFill>
                  <a:srgbClr val="FFFFFF"/>
                </a:solidFill>
              </a:defRPr>
            </a:pPr>
            <a:r>
              <a:t>• Achieves complete separation of retention vs key residence</a:t>
            </a:r>
          </a:p>
        </p:txBody>
      </p:sp>
      <p:pic>
        <p:nvPicPr>
          <p:cNvPr id="10" name="Picture 9" descr="ai_visual_slide_02.jpg"/>
          <p:cNvPicPr>
            <a:picLocks noChangeAspect="1"/>
          </p:cNvPicPr>
          <p:nvPr/>
        </p:nvPicPr>
        <p:blipFill>
          <a:blip r:embed="rId2"/>
          <a:stretch>
            <a:fillRect/>
          </a:stretch>
        </p:blipFill>
        <p:spPr>
          <a:xfrm>
            <a:off x="5029200" y="1600200"/>
            <a:ext cx="6400800" cy="4572000"/>
          </a:xfrm>
          <a:prstGeom prst="rect">
            <a:avLst/>
          </a:prstGeom>
        </p:spPr>
      </p:pic>
      <p:sp>
        <p:nvSpPr>
          <p:cNvPr id="11" name="TextBox 10"/>
          <p:cNvSpPr txBox="1"/>
          <p:nvPr/>
        </p:nvSpPr>
        <p:spPr>
          <a:xfrm>
            <a:off x="731520" y="6355080"/>
            <a:ext cx="6858000" cy="274320"/>
          </a:xfrm>
          <a:prstGeom prst="rect">
            <a:avLst/>
          </a:prstGeom>
          <a:noFill/>
        </p:spPr>
        <p:txBody>
          <a:bodyPr wrap="none">
            <a:spAutoFit/>
          </a:bodyPr>
          <a:lstStyle/>
          <a:p>
            <a:pPr>
              <a:defRPr sz="800">
                <a:solidFill>
                  <a:srgbClr val="94A3B8"/>
                </a:solidFill>
              </a:defRPr>
            </a:pPr>
            <a:r>
              <a:t>TSMC OIP TECHNICAL BRIEFING  |  SECURE STORAGE ARCHITECTURES  |  CONFIDENTIAL</a:t>
            </a:r>
          </a:p>
        </p:txBody>
      </p:sp>
      <p:sp>
        <p:nvSpPr>
          <p:cNvPr id="12" name="TextBox 11"/>
          <p:cNvSpPr txBox="1"/>
          <p:nvPr/>
        </p:nvSpPr>
        <p:spPr>
          <a:xfrm>
            <a:off x="6858000" y="6355080"/>
            <a:ext cx="4572000" cy="274320"/>
          </a:xfrm>
          <a:prstGeom prst="rect">
            <a:avLst/>
          </a:prstGeom>
          <a:noFill/>
        </p:spPr>
        <p:txBody>
          <a:bodyPr wrap="none">
            <a:spAutoFit/>
          </a:bodyPr>
          <a:lstStyle/>
          <a:p>
            <a:pPr algn="r">
              <a:defRPr sz="800" b="1">
                <a:solidFill>
                  <a:srgbClr val="38BDF8"/>
                </a:solidFill>
              </a:defRPr>
            </a:pPr>
            <a:r>
              <a:t>Design Rule: Durable storage + Non-persistent root key + Hardware reconstruction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61B29"/>
        </a:solidFill>
        <a:effectLst/>
      </p:bgPr>
    </p:bg>
    <p:spTree>
      <p:nvGrpSpPr>
        <p:cNvPr id="1" name=""/>
        <p:cNvGrpSpPr/>
        <p:nvPr/>
      </p:nvGrpSpPr>
      <p:grpSpPr/>
      <p:sp>
        <p:nvSpPr>
          <p:cNvPr id="2" name="TextBox 1"/>
          <p:cNvSpPr txBox="1"/>
          <p:nvPr/>
        </p:nvSpPr>
        <p:spPr>
          <a:xfrm>
            <a:off x="731520" y="365760"/>
            <a:ext cx="9601200" cy="320040"/>
          </a:xfrm>
          <a:prstGeom prst="rect">
            <a:avLst/>
          </a:prstGeom>
          <a:noFill/>
        </p:spPr>
        <p:txBody>
          <a:bodyPr wrap="square">
            <a:spAutoFit/>
          </a:bodyPr>
          <a:lstStyle/>
          <a:p>
            <a:pPr>
              <a:defRPr sz="1000" b="1">
                <a:solidFill>
                  <a:srgbClr val="00F0FF"/>
                </a:solidFill>
              </a:defRPr>
            </a:pPr>
            <a:r>
              <a:t>02 / THREAT LANDSCAPE</a:t>
            </a:r>
          </a:p>
        </p:txBody>
      </p:sp>
      <p:sp>
        <p:nvSpPr>
          <p:cNvPr id="3" name="TextBox 2"/>
          <p:cNvSpPr txBox="1"/>
          <p:nvPr/>
        </p:nvSpPr>
        <p:spPr>
          <a:xfrm>
            <a:off x="731520" y="658368"/>
            <a:ext cx="9601200" cy="548640"/>
          </a:xfrm>
          <a:prstGeom prst="rect">
            <a:avLst/>
          </a:prstGeom>
          <a:noFill/>
        </p:spPr>
        <p:txBody>
          <a:bodyPr wrap="square">
            <a:spAutoFit/>
          </a:bodyPr>
          <a:lstStyle/>
          <a:p>
            <a:pPr>
              <a:defRPr sz="1800" b="1">
                <a:solidFill>
                  <a:srgbClr val="FFFFFF"/>
                </a:solidFill>
              </a:defRPr>
            </a:pPr>
            <a:r>
              <a:t>Public Attacks Expose the Limits of Stored-Bit Secrecy</a:t>
            </a:r>
          </a:p>
        </p:txBody>
      </p:sp>
      <p:sp>
        <p:nvSpPr>
          <p:cNvPr id="4" name="TextBox 3"/>
          <p:cNvSpPr txBox="1"/>
          <p:nvPr/>
        </p:nvSpPr>
        <p:spPr>
          <a:xfrm>
            <a:off x="731520" y="1188720"/>
            <a:ext cx="9601200" cy="320040"/>
          </a:xfrm>
          <a:prstGeom prst="rect">
            <a:avLst/>
          </a:prstGeom>
          <a:noFill/>
        </p:spPr>
        <p:txBody>
          <a:bodyPr wrap="square">
            <a:spAutoFit/>
          </a:bodyPr>
          <a:lstStyle/>
          <a:p>
            <a:pPr>
              <a:defRPr sz="1050">
                <a:solidFill>
                  <a:srgbClr val="94A3B8"/>
                </a:solidFill>
              </a:defRPr>
            </a:pPr>
            <a:r>
              <a:t>Lessons from the RP2350 Challenge: Physical Probing &amp; Fault Injection Bypass Software Locks</a:t>
            </a:r>
          </a:p>
        </p:txBody>
      </p:sp>
      <p:sp>
        <p:nvSpPr>
          <p:cNvPr id="5" name="TextBox 4"/>
          <p:cNvSpPr txBox="1"/>
          <p:nvPr/>
        </p:nvSpPr>
        <p:spPr>
          <a:xfrm>
            <a:off x="10789920" y="411480"/>
            <a:ext cx="822960" cy="365760"/>
          </a:xfrm>
          <a:prstGeom prst="rect">
            <a:avLst/>
          </a:prstGeom>
          <a:noFill/>
        </p:spPr>
        <p:txBody>
          <a:bodyPr wrap="none">
            <a:spAutoFit/>
          </a:bodyPr>
          <a:lstStyle/>
          <a:p>
            <a:pPr algn="r">
              <a:defRPr sz="1150" b="1">
                <a:solidFill>
                  <a:srgbClr val="00F0FF"/>
                </a:solidFill>
              </a:defRPr>
            </a:pPr>
            <a:r>
              <a:t>03 / 12</a:t>
            </a:r>
          </a:p>
        </p:txBody>
      </p:sp>
      <p:sp>
        <p:nvSpPr>
          <p:cNvPr id="6" name="Rounded Rectangle 5"/>
          <p:cNvSpPr/>
          <p:nvPr/>
        </p:nvSpPr>
        <p:spPr>
          <a:xfrm>
            <a:off x="731520" y="1600200"/>
            <a:ext cx="4114800" cy="2194560"/>
          </a:xfrm>
          <a:prstGeom prst="roundRect">
            <a:avLst/>
          </a:prstGeom>
          <a:solidFill>
            <a:srgbClr val="0B2538"/>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09928"/>
            <a:ext cx="3840480" cy="1975104"/>
          </a:xfrm>
          <a:prstGeom prst="rect">
            <a:avLst/>
          </a:prstGeom>
          <a:noFill/>
        </p:spPr>
        <p:txBody>
          <a:bodyPr wrap="square">
            <a:spAutoFit/>
          </a:bodyPr>
          <a:lstStyle/>
          <a:p>
            <a:pPr>
              <a:spcAft>
                <a:spcPts val="400"/>
              </a:spcAft>
              <a:defRPr sz="1100" b="1">
                <a:solidFill>
                  <a:srgbClr val="EF4444"/>
                </a:solidFill>
              </a:defRPr>
            </a:pPr>
            <a:r>
              <a:t>RP2350 Attack Demonstrations</a:t>
            </a:r>
          </a:p>
          <a:p>
            <a:pPr>
              <a:spcAft>
                <a:spcPts val="300"/>
              </a:spcAft>
              <a:defRPr sz="900">
                <a:solidFill>
                  <a:srgbClr val="FFFFFF"/>
                </a:solidFill>
              </a:defRPr>
            </a:pPr>
            <a:r>
              <a:t>• Voltage Fault Injection (FI): Bypassed boot timing &amp; lock bits</a:t>
            </a:r>
          </a:p>
          <a:p>
            <a:pPr>
              <a:spcAft>
                <a:spcPts val="300"/>
              </a:spcAft>
              <a:defRPr sz="900">
                <a:solidFill>
                  <a:srgbClr val="FFFFFF"/>
                </a:solidFill>
              </a:defRPr>
            </a:pPr>
            <a:r>
              <a:t>• FIB / Passive Voltage Contrast: Imaged antifuse breakdown state</a:t>
            </a:r>
          </a:p>
          <a:p>
            <a:pPr>
              <a:spcAft>
                <a:spcPts val="300"/>
              </a:spcAft>
              <a:defRPr sz="900">
                <a:solidFill>
                  <a:srgbClr val="FFFFFF"/>
                </a:solidFill>
              </a:defRPr>
            </a:pPr>
            <a:r>
              <a:t>• Proved: Bit-cell opacity cannot serve as final security barrier</a:t>
            </a:r>
          </a:p>
          <a:p>
            <a:pPr>
              <a:spcAft>
                <a:spcPts val="300"/>
              </a:spcAft>
              <a:defRPr sz="900">
                <a:solidFill>
                  <a:srgbClr val="FFFFFF"/>
                </a:solidFill>
              </a:defRPr>
            </a:pPr>
            <a:r>
              <a:t>• Plain OTP Model: Extracting physical bits equals full compromise</a:t>
            </a:r>
          </a:p>
        </p:txBody>
      </p:sp>
      <p:sp>
        <p:nvSpPr>
          <p:cNvPr id="8" name="Rounded Rectangle 7"/>
          <p:cNvSpPr/>
          <p:nvPr/>
        </p:nvSpPr>
        <p:spPr>
          <a:xfrm>
            <a:off x="731520" y="3931920"/>
            <a:ext cx="4114800" cy="2240280"/>
          </a:xfrm>
          <a:prstGeom prst="roundRect">
            <a:avLst/>
          </a:prstGeom>
          <a:solidFill>
            <a:srgbClr val="0B2538"/>
          </a:solidFill>
          <a:ln w="15240">
            <a:solidFill>
              <a:srgbClr val="FF8C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041648"/>
            <a:ext cx="3840480" cy="2020824"/>
          </a:xfrm>
          <a:prstGeom prst="rect">
            <a:avLst/>
          </a:prstGeom>
          <a:noFill/>
        </p:spPr>
        <p:txBody>
          <a:bodyPr wrap="square">
            <a:spAutoFit/>
          </a:bodyPr>
          <a:lstStyle/>
          <a:p>
            <a:pPr>
              <a:spcAft>
                <a:spcPts val="400"/>
              </a:spcAft>
              <a:defRPr sz="1100" b="1">
                <a:solidFill>
                  <a:srgbClr val="FF8C42"/>
                </a:solidFill>
              </a:defRPr>
            </a:pPr>
            <a:r>
              <a:t>Architectural Design Consequence</a:t>
            </a:r>
          </a:p>
          <a:p>
            <a:pPr>
              <a:spcAft>
                <a:spcPts val="300"/>
              </a:spcAft>
              <a:defRPr sz="900">
                <a:solidFill>
                  <a:srgbClr val="FFFFFF"/>
                </a:solidFill>
              </a:defRPr>
            </a:pPr>
            <a:r>
              <a:t>• Assume physical observability: Do not rely solely on cell opacity</a:t>
            </a:r>
          </a:p>
          <a:p>
            <a:pPr>
              <a:spcAft>
                <a:spcPts val="300"/>
              </a:spcAft>
              <a:defRPr sz="900">
                <a:solidFill>
                  <a:srgbClr val="FFFFFF"/>
                </a:solidFill>
              </a:defRPr>
            </a:pPr>
            <a:r>
              <a:t>• Cryptographic transformation: Turn readout into ciphertext problem</a:t>
            </a:r>
          </a:p>
          <a:p>
            <a:pPr>
              <a:spcAft>
                <a:spcPts val="300"/>
              </a:spcAft>
              <a:defRPr sz="900">
                <a:solidFill>
                  <a:srgbClr val="FFFFFF"/>
                </a:solidFill>
              </a:defRPr>
            </a:pPr>
            <a:r>
              <a:t>• Composed defense: Ephemeral PUF root + AES-256 + Scrambling</a:t>
            </a:r>
          </a:p>
          <a:p>
            <a:pPr>
              <a:spcAft>
                <a:spcPts val="300"/>
              </a:spcAft>
              <a:defRPr sz="900">
                <a:solidFill>
                  <a:srgbClr val="FFFFFF"/>
                </a:solidFill>
              </a:defRPr>
            </a:pPr>
            <a:r>
              <a:t>• Architectural Rule: OTP Physical Readout != Secret Recovery</a:t>
            </a:r>
          </a:p>
        </p:txBody>
      </p:sp>
      <p:pic>
        <p:nvPicPr>
          <p:cNvPr id="10" name="Picture 9" descr="ai_visual_slide_03.jpg"/>
          <p:cNvPicPr>
            <a:picLocks noChangeAspect="1"/>
          </p:cNvPicPr>
          <p:nvPr/>
        </p:nvPicPr>
        <p:blipFill>
          <a:blip r:embed="rId2"/>
          <a:stretch>
            <a:fillRect/>
          </a:stretch>
        </p:blipFill>
        <p:spPr>
          <a:xfrm>
            <a:off x="5029200" y="1600200"/>
            <a:ext cx="6400800" cy="4572000"/>
          </a:xfrm>
          <a:prstGeom prst="rect">
            <a:avLst/>
          </a:prstGeom>
        </p:spPr>
      </p:pic>
      <p:sp>
        <p:nvSpPr>
          <p:cNvPr id="11" name="TextBox 10"/>
          <p:cNvSpPr txBox="1"/>
          <p:nvPr/>
        </p:nvSpPr>
        <p:spPr>
          <a:xfrm>
            <a:off x="731520" y="6355080"/>
            <a:ext cx="6858000" cy="274320"/>
          </a:xfrm>
          <a:prstGeom prst="rect">
            <a:avLst/>
          </a:prstGeom>
          <a:noFill/>
        </p:spPr>
        <p:txBody>
          <a:bodyPr wrap="none">
            <a:spAutoFit/>
          </a:bodyPr>
          <a:lstStyle/>
          <a:p>
            <a:pPr>
              <a:defRPr sz="800">
                <a:solidFill>
                  <a:srgbClr val="94A3B8"/>
                </a:solidFill>
              </a:defRPr>
            </a:pPr>
            <a:r>
              <a:t>TSMC OIP TECHNICAL BRIEFING  |  SECURE STORAGE ARCHITECTURES  |  CONFIDENTIAL</a:t>
            </a:r>
          </a:p>
        </p:txBody>
      </p:sp>
      <p:sp>
        <p:nvSpPr>
          <p:cNvPr id="12" name="TextBox 11"/>
          <p:cNvSpPr txBox="1"/>
          <p:nvPr/>
        </p:nvSpPr>
        <p:spPr>
          <a:xfrm>
            <a:off x="6858000" y="6355080"/>
            <a:ext cx="4572000" cy="274320"/>
          </a:xfrm>
          <a:prstGeom prst="rect">
            <a:avLst/>
          </a:prstGeom>
          <a:noFill/>
        </p:spPr>
        <p:txBody>
          <a:bodyPr wrap="none">
            <a:spAutoFit/>
          </a:bodyPr>
          <a:lstStyle/>
          <a:p>
            <a:pPr algn="r">
              <a:defRPr sz="800" b="1">
                <a:solidFill>
                  <a:srgbClr val="38BDF8"/>
                </a:solidFill>
              </a:defRPr>
            </a:pPr>
            <a:r>
              <a:t>Real-world Signal: Memory security is a system property, not merely a bit-cell property.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61B29"/>
        </a:solidFill>
        <a:effectLst/>
      </p:bgPr>
    </p:bg>
    <p:spTree>
      <p:nvGrpSpPr>
        <p:cNvPr id="1" name=""/>
        <p:cNvGrpSpPr/>
        <p:nvPr/>
      </p:nvGrpSpPr>
      <p:grpSpPr/>
      <p:sp>
        <p:nvSpPr>
          <p:cNvPr id="2" name="TextBox 1"/>
          <p:cNvSpPr txBox="1"/>
          <p:nvPr/>
        </p:nvSpPr>
        <p:spPr>
          <a:xfrm>
            <a:off x="731520" y="365760"/>
            <a:ext cx="9601200" cy="320040"/>
          </a:xfrm>
          <a:prstGeom prst="rect">
            <a:avLst/>
          </a:prstGeom>
          <a:noFill/>
        </p:spPr>
        <p:txBody>
          <a:bodyPr wrap="square">
            <a:spAutoFit/>
          </a:bodyPr>
          <a:lstStyle/>
          <a:p>
            <a:pPr>
              <a:defRPr sz="1000" b="1">
                <a:solidFill>
                  <a:srgbClr val="00F0FF"/>
                </a:solidFill>
              </a:defRPr>
            </a:pPr>
            <a:r>
              <a:t>03 / DEFENSE IN DEPTH</a:t>
            </a:r>
          </a:p>
        </p:txBody>
      </p:sp>
      <p:sp>
        <p:nvSpPr>
          <p:cNvPr id="3" name="TextBox 2"/>
          <p:cNvSpPr txBox="1"/>
          <p:nvPr/>
        </p:nvSpPr>
        <p:spPr>
          <a:xfrm>
            <a:off x="731520" y="658368"/>
            <a:ext cx="9601200" cy="548640"/>
          </a:xfrm>
          <a:prstGeom prst="rect">
            <a:avLst/>
          </a:prstGeom>
          <a:noFill/>
        </p:spPr>
        <p:txBody>
          <a:bodyPr wrap="square">
            <a:spAutoFit/>
          </a:bodyPr>
          <a:lstStyle/>
          <a:p>
            <a:pPr>
              <a:defRPr sz="1800" b="1">
                <a:solidFill>
                  <a:srgbClr val="FFFFFF"/>
                </a:solidFill>
              </a:defRPr>
            </a:pPr>
            <a:r>
              <a:t>Multi-Layer Pipeline: Restricting Physical Recovery to Ciphertext</a:t>
            </a:r>
          </a:p>
        </p:txBody>
      </p:sp>
      <p:sp>
        <p:nvSpPr>
          <p:cNvPr id="4" name="TextBox 3"/>
          <p:cNvSpPr txBox="1"/>
          <p:nvPr/>
        </p:nvSpPr>
        <p:spPr>
          <a:xfrm>
            <a:off x="731520" y="1188720"/>
            <a:ext cx="9601200" cy="320040"/>
          </a:xfrm>
          <a:prstGeom prst="rect">
            <a:avLst/>
          </a:prstGeom>
          <a:noFill/>
        </p:spPr>
        <p:txBody>
          <a:bodyPr wrap="square">
            <a:spAutoFit/>
          </a:bodyPr>
          <a:lstStyle/>
          <a:p>
            <a:pPr>
              <a:defRPr sz="1050">
                <a:solidFill>
                  <a:srgbClr val="94A3B8"/>
                </a:solidFill>
              </a:defRPr>
            </a:pPr>
            <a:r>
              <a:t>Four Independent Protective Barriers from Asset Ingestion to Silicon Storage</a:t>
            </a:r>
          </a:p>
        </p:txBody>
      </p:sp>
      <p:sp>
        <p:nvSpPr>
          <p:cNvPr id="5" name="TextBox 4"/>
          <p:cNvSpPr txBox="1"/>
          <p:nvPr/>
        </p:nvSpPr>
        <p:spPr>
          <a:xfrm>
            <a:off x="10789920" y="411480"/>
            <a:ext cx="822960" cy="365760"/>
          </a:xfrm>
          <a:prstGeom prst="rect">
            <a:avLst/>
          </a:prstGeom>
          <a:noFill/>
        </p:spPr>
        <p:txBody>
          <a:bodyPr wrap="none">
            <a:spAutoFit/>
          </a:bodyPr>
          <a:lstStyle/>
          <a:p>
            <a:pPr algn="r">
              <a:defRPr sz="1150" b="1">
                <a:solidFill>
                  <a:srgbClr val="00F0FF"/>
                </a:solidFill>
              </a:defRPr>
            </a:pPr>
            <a:r>
              <a:t>04 / 12</a:t>
            </a:r>
          </a:p>
        </p:txBody>
      </p:sp>
      <p:sp>
        <p:nvSpPr>
          <p:cNvPr id="6" name="Rounded Rectangle 5"/>
          <p:cNvSpPr/>
          <p:nvPr/>
        </p:nvSpPr>
        <p:spPr>
          <a:xfrm>
            <a:off x="731520" y="1600200"/>
            <a:ext cx="4114800" cy="2194560"/>
          </a:xfrm>
          <a:prstGeom prst="roundRect">
            <a:avLst/>
          </a:prstGeom>
          <a:solidFill>
            <a:srgbClr val="0B2538"/>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09928"/>
            <a:ext cx="3840480" cy="1975104"/>
          </a:xfrm>
          <a:prstGeom prst="rect">
            <a:avLst/>
          </a:prstGeom>
          <a:noFill/>
        </p:spPr>
        <p:txBody>
          <a:bodyPr wrap="square">
            <a:spAutoFit/>
          </a:bodyPr>
          <a:lstStyle/>
          <a:p>
            <a:pPr>
              <a:spcAft>
                <a:spcPts val="400"/>
              </a:spcAft>
              <a:defRPr sz="1100" b="1">
                <a:solidFill>
                  <a:srgbClr val="38BDF8"/>
                </a:solidFill>
              </a:defRPr>
            </a:pPr>
            <a:r>
              <a:t>Target Sensitive Assets</a:t>
            </a:r>
          </a:p>
          <a:p>
            <a:pPr>
              <a:spcAft>
                <a:spcPts val="300"/>
              </a:spcAft>
              <a:defRPr sz="900">
                <a:solidFill>
                  <a:srgbClr val="FFFFFF"/>
                </a:solidFill>
              </a:defRPr>
            </a:pPr>
            <a:r>
              <a:t>• Firmware anti-rollback monotonic counters</a:t>
            </a:r>
          </a:p>
          <a:p>
            <a:pPr>
              <a:spcAft>
                <a:spcPts val="300"/>
              </a:spcAft>
              <a:defRPr sz="900">
                <a:solidFill>
                  <a:srgbClr val="FFFFFF"/>
                </a:solidFill>
              </a:defRPr>
            </a:pPr>
            <a:r>
              <a:t>• AI model weight decryption keys &amp; proprietary neural IP</a:t>
            </a:r>
          </a:p>
          <a:p>
            <a:pPr>
              <a:spcAft>
                <a:spcPts val="300"/>
              </a:spcAft>
              <a:defRPr sz="900">
                <a:solidFill>
                  <a:srgbClr val="FFFFFF"/>
                </a:solidFill>
              </a:defRPr>
            </a:pPr>
            <a:r>
              <a:t>• Device-unique private identity keys (ECC / RSA)</a:t>
            </a:r>
          </a:p>
          <a:p>
            <a:pPr>
              <a:spcAft>
                <a:spcPts val="300"/>
              </a:spcAft>
              <a:defRPr sz="900">
                <a:solidFill>
                  <a:srgbClr val="FFFFFF"/>
                </a:solidFill>
              </a:defRPr>
            </a:pPr>
            <a:r>
              <a:t>• Secure boot parameters &amp; authorization policies</a:t>
            </a:r>
          </a:p>
        </p:txBody>
      </p:sp>
      <p:sp>
        <p:nvSpPr>
          <p:cNvPr id="8" name="Rounded Rectangle 7"/>
          <p:cNvSpPr/>
          <p:nvPr/>
        </p:nvSpPr>
        <p:spPr>
          <a:xfrm>
            <a:off x="731520" y="3931920"/>
            <a:ext cx="4114800" cy="2240280"/>
          </a:xfrm>
          <a:prstGeom prst="roundRect">
            <a:avLst/>
          </a:prstGeom>
          <a:solidFill>
            <a:srgbClr val="0B2538"/>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041648"/>
            <a:ext cx="3840480" cy="2020824"/>
          </a:xfrm>
          <a:prstGeom prst="rect">
            <a:avLst/>
          </a:prstGeom>
          <a:noFill/>
        </p:spPr>
        <p:txBody>
          <a:bodyPr wrap="square">
            <a:spAutoFit/>
          </a:bodyPr>
          <a:lstStyle/>
          <a:p>
            <a:pPr>
              <a:spcAft>
                <a:spcPts val="400"/>
              </a:spcAft>
              <a:defRPr sz="1100" b="1">
                <a:solidFill>
                  <a:srgbClr val="10B981"/>
                </a:solidFill>
              </a:defRPr>
            </a:pPr>
            <a:r>
              <a:t>Four-Tier Shield Mechanism</a:t>
            </a:r>
          </a:p>
          <a:p>
            <a:pPr>
              <a:spcAft>
                <a:spcPts val="300"/>
              </a:spcAft>
              <a:defRPr sz="900">
                <a:solidFill>
                  <a:srgbClr val="FFFFFF"/>
                </a:solidFill>
              </a:defRPr>
            </a:pPr>
            <a:r>
              <a:t>• Tier 1: SRAM PUF Dynamic Root (Zero at-rest footprint)</a:t>
            </a:r>
          </a:p>
          <a:p>
            <a:pPr>
              <a:spcAft>
                <a:spcPts val="300"/>
              </a:spcAft>
              <a:defRPr sz="900">
                <a:solidFill>
                  <a:srgbClr val="FFFFFF"/>
                </a:solidFill>
              </a:defRPr>
            </a:pPr>
            <a:r>
              <a:t>• Tier 2: AES-256 Hardware Encryption (Ciphertext barrier)</a:t>
            </a:r>
          </a:p>
          <a:p>
            <a:pPr>
              <a:spcAft>
                <a:spcPts val="300"/>
              </a:spcAft>
              <a:defRPr sz="900">
                <a:solidFill>
                  <a:srgbClr val="FFFFFF"/>
                </a:solidFill>
              </a:defRPr>
            </a:pPr>
            <a:r>
              <a:t>• Tier 3: Pseudo-random Address Scrambler (Obscures mapping)</a:t>
            </a:r>
          </a:p>
          <a:p>
            <a:pPr>
              <a:spcAft>
                <a:spcPts val="300"/>
              </a:spcAft>
              <a:defRPr sz="900">
                <a:solidFill>
                  <a:srgbClr val="FFFFFF"/>
                </a:solidFill>
              </a:defRPr>
            </a:pPr>
            <a:r>
              <a:t>• Tier 4: Split-Channel 1T Twin-Cell OTP (Power-balanced read)</a:t>
            </a:r>
          </a:p>
        </p:txBody>
      </p:sp>
      <p:pic>
        <p:nvPicPr>
          <p:cNvPr id="10" name="Picture 9" descr="ai_visual_slide_04.jpg"/>
          <p:cNvPicPr>
            <a:picLocks noChangeAspect="1"/>
          </p:cNvPicPr>
          <p:nvPr/>
        </p:nvPicPr>
        <p:blipFill>
          <a:blip r:embed="rId2"/>
          <a:stretch>
            <a:fillRect/>
          </a:stretch>
        </p:blipFill>
        <p:spPr>
          <a:xfrm>
            <a:off x="5029200" y="1600200"/>
            <a:ext cx="6400800" cy="4572000"/>
          </a:xfrm>
          <a:prstGeom prst="rect">
            <a:avLst/>
          </a:prstGeom>
        </p:spPr>
      </p:pic>
      <p:sp>
        <p:nvSpPr>
          <p:cNvPr id="11" name="TextBox 10"/>
          <p:cNvSpPr txBox="1"/>
          <p:nvPr/>
        </p:nvSpPr>
        <p:spPr>
          <a:xfrm>
            <a:off x="731520" y="6355080"/>
            <a:ext cx="6858000" cy="274320"/>
          </a:xfrm>
          <a:prstGeom prst="rect">
            <a:avLst/>
          </a:prstGeom>
          <a:noFill/>
        </p:spPr>
        <p:txBody>
          <a:bodyPr wrap="none">
            <a:spAutoFit/>
          </a:bodyPr>
          <a:lstStyle/>
          <a:p>
            <a:pPr>
              <a:defRPr sz="800">
                <a:solidFill>
                  <a:srgbClr val="94A3B8"/>
                </a:solidFill>
              </a:defRPr>
            </a:pPr>
            <a:r>
              <a:t>TSMC OIP TECHNICAL BRIEFING  |  SECURE STORAGE ARCHITECTURES  |  CONFIDENTIAL</a:t>
            </a:r>
          </a:p>
        </p:txBody>
      </p:sp>
      <p:sp>
        <p:nvSpPr>
          <p:cNvPr id="12" name="TextBox 11"/>
          <p:cNvSpPr txBox="1"/>
          <p:nvPr/>
        </p:nvSpPr>
        <p:spPr>
          <a:xfrm>
            <a:off x="6858000" y="6355080"/>
            <a:ext cx="4572000" cy="274320"/>
          </a:xfrm>
          <a:prstGeom prst="rect">
            <a:avLst/>
          </a:prstGeom>
          <a:noFill/>
        </p:spPr>
        <p:txBody>
          <a:bodyPr wrap="none">
            <a:spAutoFit/>
          </a:bodyPr>
          <a:lstStyle/>
          <a:p>
            <a:pPr algn="r">
              <a:defRPr sz="800" b="1">
                <a:solidFill>
                  <a:srgbClr val="38BDF8"/>
                </a:solidFill>
              </a:defRPr>
            </a:pPr>
            <a:r>
              <a:t>Defense Principle: Address scrambling raises mapping cost; AES-256 creates the mathematical barrier.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61B29"/>
        </a:solidFill>
        <a:effectLst/>
      </p:bgPr>
    </p:bg>
    <p:spTree>
      <p:nvGrpSpPr>
        <p:cNvPr id="1" name=""/>
        <p:cNvGrpSpPr/>
        <p:nvPr/>
      </p:nvGrpSpPr>
      <p:grpSpPr/>
      <p:sp>
        <p:nvSpPr>
          <p:cNvPr id="2" name="TextBox 1"/>
          <p:cNvSpPr txBox="1"/>
          <p:nvPr/>
        </p:nvSpPr>
        <p:spPr>
          <a:xfrm>
            <a:off x="731520" y="365760"/>
            <a:ext cx="9601200" cy="320040"/>
          </a:xfrm>
          <a:prstGeom prst="rect">
            <a:avLst/>
          </a:prstGeom>
          <a:noFill/>
        </p:spPr>
        <p:txBody>
          <a:bodyPr wrap="square">
            <a:spAutoFit/>
          </a:bodyPr>
          <a:lstStyle/>
          <a:p>
            <a:pPr>
              <a:defRPr sz="1000" b="1">
                <a:solidFill>
                  <a:srgbClr val="00F0FF"/>
                </a:solidFill>
              </a:defRPr>
            </a:pPr>
            <a:r>
              <a:t>04 / INTEGRATED ARCHITECTURE</a:t>
            </a:r>
          </a:p>
        </p:txBody>
      </p:sp>
      <p:sp>
        <p:nvSpPr>
          <p:cNvPr id="3" name="TextBox 2"/>
          <p:cNvSpPr txBox="1"/>
          <p:nvPr/>
        </p:nvSpPr>
        <p:spPr>
          <a:xfrm>
            <a:off x="731520" y="658368"/>
            <a:ext cx="9601200" cy="548640"/>
          </a:xfrm>
          <a:prstGeom prst="rect">
            <a:avLst/>
          </a:prstGeom>
          <a:noFill/>
        </p:spPr>
        <p:txBody>
          <a:bodyPr wrap="square">
            <a:spAutoFit/>
          </a:bodyPr>
          <a:lstStyle/>
          <a:p>
            <a:pPr>
              <a:defRPr sz="1800" b="1">
                <a:solidFill>
                  <a:srgbClr val="FFFFFF"/>
                </a:solidFill>
              </a:defRPr>
            </a:pPr>
            <a:r>
              <a:t>Unified Subsystem: Four Blocks Under One Trust Boundary</a:t>
            </a:r>
          </a:p>
        </p:txBody>
      </p:sp>
      <p:sp>
        <p:nvSpPr>
          <p:cNvPr id="4" name="TextBox 3"/>
          <p:cNvSpPr txBox="1"/>
          <p:nvPr/>
        </p:nvSpPr>
        <p:spPr>
          <a:xfrm>
            <a:off x="731520" y="1188720"/>
            <a:ext cx="9601200" cy="320040"/>
          </a:xfrm>
          <a:prstGeom prst="rect">
            <a:avLst/>
          </a:prstGeom>
          <a:noFill/>
        </p:spPr>
        <p:txBody>
          <a:bodyPr wrap="square">
            <a:spAutoFit/>
          </a:bodyPr>
          <a:lstStyle/>
          <a:p>
            <a:pPr>
              <a:defRPr sz="1050">
                <a:solidFill>
                  <a:srgbClr val="94A3B8"/>
                </a:solidFill>
              </a:defRPr>
            </a:pPr>
            <a:r>
              <a:t>Pre-Integrated Hardware Security Subsystem Eliminating Cross-IP Vulnerabilities</a:t>
            </a:r>
          </a:p>
        </p:txBody>
      </p:sp>
      <p:sp>
        <p:nvSpPr>
          <p:cNvPr id="5" name="TextBox 4"/>
          <p:cNvSpPr txBox="1"/>
          <p:nvPr/>
        </p:nvSpPr>
        <p:spPr>
          <a:xfrm>
            <a:off x="10789920" y="411480"/>
            <a:ext cx="822960" cy="365760"/>
          </a:xfrm>
          <a:prstGeom prst="rect">
            <a:avLst/>
          </a:prstGeom>
          <a:noFill/>
        </p:spPr>
        <p:txBody>
          <a:bodyPr wrap="none">
            <a:spAutoFit/>
          </a:bodyPr>
          <a:lstStyle/>
          <a:p>
            <a:pPr algn="r">
              <a:defRPr sz="1150" b="1">
                <a:solidFill>
                  <a:srgbClr val="00F0FF"/>
                </a:solidFill>
              </a:defRPr>
            </a:pPr>
            <a:r>
              <a:t>05 / 12</a:t>
            </a:r>
          </a:p>
        </p:txBody>
      </p:sp>
      <p:sp>
        <p:nvSpPr>
          <p:cNvPr id="6" name="Rounded Rectangle 5"/>
          <p:cNvSpPr/>
          <p:nvPr/>
        </p:nvSpPr>
        <p:spPr>
          <a:xfrm>
            <a:off x="731520" y="1600200"/>
            <a:ext cx="4114800" cy="2194560"/>
          </a:xfrm>
          <a:prstGeom prst="roundRect">
            <a:avLst/>
          </a:prstGeom>
          <a:solidFill>
            <a:srgbClr val="0B2538"/>
          </a:solidFill>
          <a:ln w="1524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09928"/>
            <a:ext cx="3840480" cy="1975104"/>
          </a:xfrm>
          <a:prstGeom prst="rect">
            <a:avLst/>
          </a:prstGeom>
          <a:noFill/>
        </p:spPr>
        <p:txBody>
          <a:bodyPr wrap="square">
            <a:spAutoFit/>
          </a:bodyPr>
          <a:lstStyle/>
          <a:p>
            <a:pPr>
              <a:spcAft>
                <a:spcPts val="400"/>
              </a:spcAft>
              <a:defRPr sz="1100" b="1">
                <a:solidFill>
                  <a:srgbClr val="00F0FF"/>
                </a:solidFill>
              </a:defRPr>
            </a:pPr>
            <a:r>
              <a:t>Four Core Hardware Blocks</a:t>
            </a:r>
          </a:p>
          <a:p>
            <a:pPr>
              <a:spcAft>
                <a:spcPts val="300"/>
              </a:spcAft>
              <a:defRPr sz="900">
                <a:solidFill>
                  <a:srgbClr val="FFFFFF"/>
                </a:solidFill>
              </a:defRPr>
            </a:pPr>
            <a:r>
              <a:t>• SRAM PUF: Dynamic key generator &amp; silicon fingerprint core</a:t>
            </a:r>
          </a:p>
          <a:p>
            <a:pPr>
              <a:spcAft>
                <a:spcPts val="300"/>
              </a:spcAft>
              <a:defRPr sz="900">
                <a:solidFill>
                  <a:srgbClr val="FFFFFF"/>
                </a:solidFill>
              </a:defRPr>
            </a:pPr>
            <a:r>
              <a:t>• Crypto Engine: High-throughput line-speed AES-256 core</a:t>
            </a:r>
          </a:p>
          <a:p>
            <a:pPr>
              <a:spcAft>
                <a:spcPts val="300"/>
              </a:spcAft>
              <a:defRPr sz="900">
                <a:solidFill>
                  <a:srgbClr val="FFFFFF"/>
                </a:solidFill>
              </a:defRPr>
            </a:pPr>
            <a:r>
              <a:t>• AntiFuse OTP: Persistent encrypted storage matrix</a:t>
            </a:r>
          </a:p>
          <a:p>
            <a:pPr>
              <a:spcAft>
                <a:spcPts val="300"/>
              </a:spcAft>
              <a:defRPr sz="900">
                <a:solidFill>
                  <a:srgbClr val="FFFFFF"/>
                </a:solidFill>
              </a:defRPr>
            </a:pPr>
            <a:r>
              <a:t>• Secure Controller: APB slave, address scrambler &amp; access FSM</a:t>
            </a:r>
          </a:p>
        </p:txBody>
      </p:sp>
      <p:sp>
        <p:nvSpPr>
          <p:cNvPr id="8" name="Rounded Rectangle 7"/>
          <p:cNvSpPr/>
          <p:nvPr/>
        </p:nvSpPr>
        <p:spPr>
          <a:xfrm>
            <a:off x="731520" y="3931920"/>
            <a:ext cx="4114800" cy="2240280"/>
          </a:xfrm>
          <a:prstGeom prst="roundRect">
            <a:avLst/>
          </a:prstGeom>
          <a:solidFill>
            <a:srgbClr val="0B2538"/>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041648"/>
            <a:ext cx="3840480" cy="2020824"/>
          </a:xfrm>
          <a:prstGeom prst="rect">
            <a:avLst/>
          </a:prstGeom>
          <a:noFill/>
        </p:spPr>
        <p:txBody>
          <a:bodyPr wrap="square">
            <a:spAutoFit/>
          </a:bodyPr>
          <a:lstStyle/>
          <a:p>
            <a:pPr>
              <a:spcAft>
                <a:spcPts val="400"/>
              </a:spcAft>
              <a:defRPr sz="1100" b="1">
                <a:solidFill>
                  <a:srgbClr val="A855F7"/>
                </a:solidFill>
              </a:defRPr>
            </a:pPr>
            <a:r>
              <a:t>Subsystem Integration Advantages</a:t>
            </a:r>
          </a:p>
          <a:p>
            <a:pPr>
              <a:spcAft>
                <a:spcPts val="300"/>
              </a:spcAft>
              <a:defRPr sz="900">
                <a:solidFill>
                  <a:srgbClr val="FFFFFF"/>
                </a:solidFill>
              </a:defRPr>
            </a:pPr>
            <a:r>
              <a:t>• Eliminates cross-IP interface timing &amp; reset glitch vulnerabilities</a:t>
            </a:r>
          </a:p>
          <a:p>
            <a:pPr>
              <a:spcAft>
                <a:spcPts val="300"/>
              </a:spcAft>
              <a:defRPr sz="900">
                <a:solidFill>
                  <a:srgbClr val="FFFFFF"/>
                </a:solidFill>
              </a:defRPr>
            </a:pPr>
            <a:r>
              <a:t>• Standard AMBA APB interface simplifies SoC host integration</a:t>
            </a:r>
          </a:p>
          <a:p>
            <a:pPr>
              <a:spcAft>
                <a:spcPts val="300"/>
              </a:spcAft>
              <a:defRPr sz="900">
                <a:solidFill>
                  <a:srgbClr val="FFFFFF"/>
                </a:solidFill>
              </a:defRPr>
            </a:pPr>
            <a:r>
              <a:t>• Hardware-enforced region access control &amp; tamper response</a:t>
            </a:r>
          </a:p>
          <a:p>
            <a:pPr>
              <a:spcAft>
                <a:spcPts val="300"/>
              </a:spcAft>
              <a:defRPr sz="900">
                <a:solidFill>
                  <a:srgbClr val="FFFFFF"/>
                </a:solidFill>
              </a:defRPr>
            </a:pPr>
            <a:r>
              <a:t>• Single accountable IP provider for full security closure</a:t>
            </a:r>
          </a:p>
        </p:txBody>
      </p:sp>
      <p:pic>
        <p:nvPicPr>
          <p:cNvPr id="10" name="Picture 9" descr="ai_visual_slide_05.jpg"/>
          <p:cNvPicPr>
            <a:picLocks noChangeAspect="1"/>
          </p:cNvPicPr>
          <p:nvPr/>
        </p:nvPicPr>
        <p:blipFill>
          <a:blip r:embed="rId2"/>
          <a:stretch>
            <a:fillRect/>
          </a:stretch>
        </p:blipFill>
        <p:spPr>
          <a:xfrm>
            <a:off x="5029200" y="1600200"/>
            <a:ext cx="6400800" cy="4572000"/>
          </a:xfrm>
          <a:prstGeom prst="rect">
            <a:avLst/>
          </a:prstGeom>
        </p:spPr>
      </p:pic>
      <p:sp>
        <p:nvSpPr>
          <p:cNvPr id="11" name="TextBox 10"/>
          <p:cNvSpPr txBox="1"/>
          <p:nvPr/>
        </p:nvSpPr>
        <p:spPr>
          <a:xfrm>
            <a:off x="731520" y="6355080"/>
            <a:ext cx="6858000" cy="274320"/>
          </a:xfrm>
          <a:prstGeom prst="rect">
            <a:avLst/>
          </a:prstGeom>
          <a:noFill/>
        </p:spPr>
        <p:txBody>
          <a:bodyPr wrap="none">
            <a:spAutoFit/>
          </a:bodyPr>
          <a:lstStyle/>
          <a:p>
            <a:pPr>
              <a:defRPr sz="800">
                <a:solidFill>
                  <a:srgbClr val="94A3B8"/>
                </a:solidFill>
              </a:defRPr>
            </a:pPr>
            <a:r>
              <a:t>TSMC OIP TECHNICAL BRIEFING  |  SECURE STORAGE ARCHITECTURES  |  CONFIDENTIAL</a:t>
            </a:r>
          </a:p>
        </p:txBody>
      </p:sp>
      <p:sp>
        <p:nvSpPr>
          <p:cNvPr id="12" name="TextBox 11"/>
          <p:cNvSpPr txBox="1"/>
          <p:nvPr/>
        </p:nvSpPr>
        <p:spPr>
          <a:xfrm>
            <a:off x="6858000" y="6355080"/>
            <a:ext cx="4572000" cy="274320"/>
          </a:xfrm>
          <a:prstGeom prst="rect">
            <a:avLst/>
          </a:prstGeom>
          <a:noFill/>
        </p:spPr>
        <p:txBody>
          <a:bodyPr wrap="none">
            <a:spAutoFit/>
          </a:bodyPr>
          <a:lstStyle/>
          <a:p>
            <a:pPr algn="r">
              <a:defRPr sz="800" b="1">
                <a:solidFill>
                  <a:srgbClr val="38BDF8"/>
                </a:solidFill>
              </a:defRPr>
            </a:pPr>
            <a:r>
              <a:t>Pre-integrated architecture eliminates cross-IP assumptions and hand-off risks.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61B29"/>
        </a:solidFill>
        <a:effectLst/>
      </p:bgPr>
    </p:bg>
    <p:spTree>
      <p:nvGrpSpPr>
        <p:cNvPr id="1" name=""/>
        <p:cNvGrpSpPr/>
        <p:nvPr/>
      </p:nvGrpSpPr>
      <p:grpSpPr/>
      <p:sp>
        <p:nvSpPr>
          <p:cNvPr id="2" name="TextBox 1"/>
          <p:cNvSpPr txBox="1"/>
          <p:nvPr/>
        </p:nvSpPr>
        <p:spPr>
          <a:xfrm>
            <a:off x="731520" y="365760"/>
            <a:ext cx="9601200" cy="320040"/>
          </a:xfrm>
          <a:prstGeom prst="rect">
            <a:avLst/>
          </a:prstGeom>
          <a:noFill/>
        </p:spPr>
        <p:txBody>
          <a:bodyPr wrap="square">
            <a:spAutoFit/>
          </a:bodyPr>
          <a:lstStyle/>
          <a:p>
            <a:pPr>
              <a:defRPr sz="1000" b="1">
                <a:solidFill>
                  <a:srgbClr val="00F0FF"/>
                </a:solidFill>
              </a:defRPr>
            </a:pPr>
            <a:r>
              <a:t>05 / KEY LIFECYCLE</a:t>
            </a:r>
          </a:p>
        </p:txBody>
      </p:sp>
      <p:sp>
        <p:nvSpPr>
          <p:cNvPr id="3" name="TextBox 2"/>
          <p:cNvSpPr txBox="1"/>
          <p:nvPr/>
        </p:nvSpPr>
        <p:spPr>
          <a:xfrm>
            <a:off x="731520" y="658368"/>
            <a:ext cx="9601200" cy="548640"/>
          </a:xfrm>
          <a:prstGeom prst="rect">
            <a:avLst/>
          </a:prstGeom>
          <a:noFill/>
        </p:spPr>
        <p:txBody>
          <a:bodyPr wrap="square">
            <a:spAutoFit/>
          </a:bodyPr>
          <a:lstStyle/>
          <a:p>
            <a:pPr>
              <a:defRPr sz="1800" b="1">
                <a:solidFill>
                  <a:srgbClr val="FFFFFF"/>
                </a:solidFill>
              </a:defRPr>
            </a:pPr>
            <a:r>
              <a:t>Root-Key Lifecycle: Strict Residency Control &amp; Instant Zeroization</a:t>
            </a:r>
          </a:p>
        </p:txBody>
      </p:sp>
      <p:sp>
        <p:nvSpPr>
          <p:cNvPr id="4" name="TextBox 3"/>
          <p:cNvSpPr txBox="1"/>
          <p:nvPr/>
        </p:nvSpPr>
        <p:spPr>
          <a:xfrm>
            <a:off x="731520" y="1188720"/>
            <a:ext cx="9601200" cy="320040"/>
          </a:xfrm>
          <a:prstGeom prst="rect">
            <a:avLst/>
          </a:prstGeom>
          <a:noFill/>
        </p:spPr>
        <p:txBody>
          <a:bodyPr wrap="square">
            <a:spAutoFit/>
          </a:bodyPr>
          <a:lstStyle/>
          <a:p>
            <a:pPr>
              <a:defRPr sz="1050">
                <a:solidFill>
                  <a:srgbClr val="94A3B8"/>
                </a:solidFill>
              </a:defRPr>
            </a:pPr>
            <a:r>
              <a:t>Minimizing Key Exposure Windows Through Hardware-Enforced State Transitions</a:t>
            </a:r>
          </a:p>
        </p:txBody>
      </p:sp>
      <p:sp>
        <p:nvSpPr>
          <p:cNvPr id="5" name="TextBox 4"/>
          <p:cNvSpPr txBox="1"/>
          <p:nvPr/>
        </p:nvSpPr>
        <p:spPr>
          <a:xfrm>
            <a:off x="10789920" y="411480"/>
            <a:ext cx="822960" cy="365760"/>
          </a:xfrm>
          <a:prstGeom prst="rect">
            <a:avLst/>
          </a:prstGeom>
          <a:noFill/>
        </p:spPr>
        <p:txBody>
          <a:bodyPr wrap="none">
            <a:spAutoFit/>
          </a:bodyPr>
          <a:lstStyle/>
          <a:p>
            <a:pPr algn="r">
              <a:defRPr sz="1150" b="1">
                <a:solidFill>
                  <a:srgbClr val="00F0FF"/>
                </a:solidFill>
              </a:defRPr>
            </a:pPr>
            <a:r>
              <a:t>06 / 12</a:t>
            </a:r>
          </a:p>
        </p:txBody>
      </p:sp>
      <p:sp>
        <p:nvSpPr>
          <p:cNvPr id="6" name="Rounded Rectangle 5"/>
          <p:cNvSpPr/>
          <p:nvPr/>
        </p:nvSpPr>
        <p:spPr>
          <a:xfrm>
            <a:off x="731520" y="1600200"/>
            <a:ext cx="4114800" cy="2194560"/>
          </a:xfrm>
          <a:prstGeom prst="roundRect">
            <a:avLst/>
          </a:prstGeom>
          <a:solidFill>
            <a:srgbClr val="0B2538"/>
          </a:solidFill>
          <a:ln w="15240">
            <a:solidFill>
              <a:srgbClr val="FF8C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09928"/>
            <a:ext cx="3840480" cy="1975104"/>
          </a:xfrm>
          <a:prstGeom prst="rect">
            <a:avLst/>
          </a:prstGeom>
          <a:noFill/>
        </p:spPr>
        <p:txBody>
          <a:bodyPr wrap="square">
            <a:spAutoFit/>
          </a:bodyPr>
          <a:lstStyle/>
          <a:p>
            <a:pPr>
              <a:spcAft>
                <a:spcPts val="400"/>
              </a:spcAft>
              <a:defRPr sz="1100" b="1">
                <a:solidFill>
                  <a:srgbClr val="FF8C42"/>
                </a:solidFill>
              </a:defRPr>
            </a:pPr>
            <a:r>
              <a:t>Four-Phase Key Lifecycle</a:t>
            </a:r>
          </a:p>
          <a:p>
            <a:pPr>
              <a:spcAft>
                <a:spcPts val="300"/>
              </a:spcAft>
              <a:defRPr sz="900">
                <a:solidFill>
                  <a:srgbClr val="FFFFFF"/>
                </a:solidFill>
              </a:defRPr>
            </a:pPr>
            <a:r>
              <a:t>• Phase 1 (Power-Off): Root key ABSENT; OTP holds ciphertext</a:t>
            </a:r>
          </a:p>
          <a:p>
            <a:pPr>
              <a:spcAft>
                <a:spcPts val="300"/>
              </a:spcAft>
              <a:defRPr sz="900">
                <a:solidFill>
                  <a:srgbClr val="FFFFFF"/>
                </a:solidFill>
              </a:defRPr>
            </a:pPr>
            <a:r>
              <a:t>• Phase 2 (Power-Up): SRAM mismatch measured &amp; key reconstructed</a:t>
            </a:r>
          </a:p>
          <a:p>
            <a:pPr>
              <a:spcAft>
                <a:spcPts val="300"/>
              </a:spcAft>
              <a:defRPr sz="900">
                <a:solidFill>
                  <a:srgbClr val="FFFFFF"/>
                </a:solidFill>
              </a:defRPr>
            </a:pPr>
            <a:r>
              <a:t>• Phase 3 (Authorized Use): Session keys derived for APB crypto</a:t>
            </a:r>
          </a:p>
          <a:p>
            <a:pPr>
              <a:spcAft>
                <a:spcPts val="300"/>
              </a:spcAft>
              <a:defRPr sz="900">
                <a:solidFill>
                  <a:srgbClr val="FFFFFF"/>
                </a:solidFill>
              </a:defRPr>
            </a:pPr>
            <a:r>
              <a:t>• Phase 4 (Zeroization): Immediate register flush upon task end</a:t>
            </a:r>
          </a:p>
        </p:txBody>
      </p:sp>
      <p:sp>
        <p:nvSpPr>
          <p:cNvPr id="8" name="Rounded Rectangle 7"/>
          <p:cNvSpPr/>
          <p:nvPr/>
        </p:nvSpPr>
        <p:spPr>
          <a:xfrm>
            <a:off x="731520" y="3931920"/>
            <a:ext cx="4114800" cy="2240280"/>
          </a:xfrm>
          <a:prstGeom prst="roundRect">
            <a:avLst/>
          </a:prstGeom>
          <a:solidFill>
            <a:srgbClr val="0B2538"/>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041648"/>
            <a:ext cx="3840480" cy="2020824"/>
          </a:xfrm>
          <a:prstGeom prst="rect">
            <a:avLst/>
          </a:prstGeom>
          <a:noFill/>
        </p:spPr>
        <p:txBody>
          <a:bodyPr wrap="square">
            <a:spAutoFit/>
          </a:bodyPr>
          <a:lstStyle/>
          <a:p>
            <a:pPr>
              <a:spcAft>
                <a:spcPts val="400"/>
              </a:spcAft>
              <a:defRPr sz="1100" b="1">
                <a:solidFill>
                  <a:srgbClr val="10B981"/>
                </a:solidFill>
              </a:defRPr>
            </a:pPr>
            <a:r>
              <a:t>Zero-Residency Security Assurance</a:t>
            </a:r>
          </a:p>
          <a:p>
            <a:pPr>
              <a:spcAft>
                <a:spcPts val="300"/>
              </a:spcAft>
              <a:defRPr sz="900">
                <a:solidFill>
                  <a:srgbClr val="FFFFFF"/>
                </a:solidFill>
              </a:defRPr>
            </a:pPr>
            <a:r>
              <a:t>• Core Metric: Minimize key residency time across execution</a:t>
            </a:r>
          </a:p>
          <a:p>
            <a:pPr>
              <a:spcAft>
                <a:spcPts val="300"/>
              </a:spcAft>
              <a:defRPr sz="900">
                <a:solidFill>
                  <a:srgbClr val="FFFFFF"/>
                </a:solidFill>
              </a:defRPr>
            </a:pPr>
            <a:r>
              <a:t>• Hardware tamper triggers force single-cycle latch clear</a:t>
            </a:r>
          </a:p>
          <a:p>
            <a:pPr>
              <a:spcAft>
                <a:spcPts val="300"/>
              </a:spcAft>
              <a:defRPr sz="900">
                <a:solidFill>
                  <a:srgbClr val="FFFFFF"/>
                </a:solidFill>
              </a:defRPr>
            </a:pPr>
            <a:r>
              <a:t>• Volatile register state dissipates within milliseconds of power cut</a:t>
            </a:r>
          </a:p>
          <a:p>
            <a:pPr>
              <a:spcAft>
                <a:spcPts val="300"/>
              </a:spcAft>
              <a:defRPr sz="900">
                <a:solidFill>
                  <a:srgbClr val="FFFFFF"/>
                </a:solidFill>
              </a:defRPr>
            </a:pPr>
            <a:r>
              <a:t>• Fully compliant with stringent anti-tamper security standards</a:t>
            </a:r>
          </a:p>
        </p:txBody>
      </p:sp>
      <p:pic>
        <p:nvPicPr>
          <p:cNvPr id="10" name="Picture 9" descr="ai_visual_slide_06.jpg"/>
          <p:cNvPicPr>
            <a:picLocks noChangeAspect="1"/>
          </p:cNvPicPr>
          <p:nvPr/>
        </p:nvPicPr>
        <p:blipFill>
          <a:blip r:embed="rId2"/>
          <a:stretch>
            <a:fillRect/>
          </a:stretch>
        </p:blipFill>
        <p:spPr>
          <a:xfrm>
            <a:off x="5029200" y="1600200"/>
            <a:ext cx="6400800" cy="4572000"/>
          </a:xfrm>
          <a:prstGeom prst="rect">
            <a:avLst/>
          </a:prstGeom>
        </p:spPr>
      </p:pic>
      <p:sp>
        <p:nvSpPr>
          <p:cNvPr id="11" name="TextBox 10"/>
          <p:cNvSpPr txBox="1"/>
          <p:nvPr/>
        </p:nvSpPr>
        <p:spPr>
          <a:xfrm>
            <a:off x="731520" y="6355080"/>
            <a:ext cx="6858000" cy="274320"/>
          </a:xfrm>
          <a:prstGeom prst="rect">
            <a:avLst/>
          </a:prstGeom>
          <a:noFill/>
        </p:spPr>
        <p:txBody>
          <a:bodyPr wrap="none">
            <a:spAutoFit/>
          </a:bodyPr>
          <a:lstStyle/>
          <a:p>
            <a:pPr>
              <a:defRPr sz="800">
                <a:solidFill>
                  <a:srgbClr val="94A3B8"/>
                </a:solidFill>
              </a:defRPr>
            </a:pPr>
            <a:r>
              <a:t>TSMC OIP TECHNICAL BRIEFING  |  SECURE STORAGE ARCHITECTURES  |  CONFIDENTIAL</a:t>
            </a:r>
          </a:p>
        </p:txBody>
      </p:sp>
      <p:sp>
        <p:nvSpPr>
          <p:cNvPr id="12" name="TextBox 11"/>
          <p:cNvSpPr txBox="1"/>
          <p:nvPr/>
        </p:nvSpPr>
        <p:spPr>
          <a:xfrm>
            <a:off x="6858000" y="6355080"/>
            <a:ext cx="4572000" cy="274320"/>
          </a:xfrm>
          <a:prstGeom prst="rect">
            <a:avLst/>
          </a:prstGeom>
          <a:noFill/>
        </p:spPr>
        <p:txBody>
          <a:bodyPr wrap="none">
            <a:spAutoFit/>
          </a:bodyPr>
          <a:lstStyle/>
          <a:p>
            <a:pPr algn="r">
              <a:defRPr sz="800" b="1">
                <a:solidFill>
                  <a:srgbClr val="38BDF8"/>
                </a:solidFill>
              </a:defRPr>
            </a:pPr>
            <a:r>
              <a:t>Security Property: Minimize key residency, not merely key visibility.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61B29"/>
        </a:solidFill>
        <a:effectLst/>
      </p:bgPr>
    </p:bg>
    <p:spTree>
      <p:nvGrpSpPr>
        <p:cNvPr id="1" name=""/>
        <p:cNvGrpSpPr/>
        <p:nvPr/>
      </p:nvGrpSpPr>
      <p:grpSpPr/>
      <p:sp>
        <p:nvSpPr>
          <p:cNvPr id="2" name="TextBox 1"/>
          <p:cNvSpPr txBox="1"/>
          <p:nvPr/>
        </p:nvSpPr>
        <p:spPr>
          <a:xfrm>
            <a:off x="731520" y="365760"/>
            <a:ext cx="9601200" cy="320040"/>
          </a:xfrm>
          <a:prstGeom prst="rect">
            <a:avLst/>
          </a:prstGeom>
          <a:noFill/>
        </p:spPr>
        <p:txBody>
          <a:bodyPr wrap="square">
            <a:spAutoFit/>
          </a:bodyPr>
          <a:lstStyle/>
          <a:p>
            <a:pPr>
              <a:defRPr sz="1000" b="1">
                <a:solidFill>
                  <a:srgbClr val="00F0FF"/>
                </a:solidFill>
              </a:defRPr>
            </a:pPr>
            <a:r>
              <a:t>06 / PUF PHYSICS &amp; SECURITY</a:t>
            </a:r>
          </a:p>
        </p:txBody>
      </p:sp>
      <p:sp>
        <p:nvSpPr>
          <p:cNvPr id="3" name="TextBox 2"/>
          <p:cNvSpPr txBox="1"/>
          <p:nvPr/>
        </p:nvSpPr>
        <p:spPr>
          <a:xfrm>
            <a:off x="731520" y="658368"/>
            <a:ext cx="9601200" cy="548640"/>
          </a:xfrm>
          <a:prstGeom prst="rect">
            <a:avLst/>
          </a:prstGeom>
          <a:noFill/>
        </p:spPr>
        <p:txBody>
          <a:bodyPr wrap="square">
            <a:spAutoFit/>
          </a:bodyPr>
          <a:lstStyle/>
          <a:p>
            <a:pPr>
              <a:defRPr sz="1800" b="1">
                <a:solidFill>
                  <a:srgbClr val="FFFFFF"/>
                </a:solidFill>
              </a:defRPr>
            </a:pPr>
            <a:r>
              <a:t>SRAM PUF Reconstruction: Information-Theoretically Secure Helper Data</a:t>
            </a:r>
          </a:p>
        </p:txBody>
      </p:sp>
      <p:sp>
        <p:nvSpPr>
          <p:cNvPr id="4" name="TextBox 3"/>
          <p:cNvSpPr txBox="1"/>
          <p:nvPr/>
        </p:nvSpPr>
        <p:spPr>
          <a:xfrm>
            <a:off x="731520" y="1188720"/>
            <a:ext cx="9601200" cy="320040"/>
          </a:xfrm>
          <a:prstGeom prst="rect">
            <a:avLst/>
          </a:prstGeom>
          <a:noFill/>
        </p:spPr>
        <p:txBody>
          <a:bodyPr wrap="square">
            <a:spAutoFit/>
          </a:bodyPr>
          <a:lstStyle/>
          <a:p>
            <a:pPr>
              <a:defRPr sz="1050">
                <a:solidFill>
                  <a:srgbClr val="94A3B8"/>
                </a:solidFill>
              </a:defRPr>
            </a:pPr>
            <a:r>
              <a:t>Public Activation Code Discloses Mathematically Zero Shannon Information Regarding Root Key</a:t>
            </a:r>
          </a:p>
        </p:txBody>
      </p:sp>
      <p:sp>
        <p:nvSpPr>
          <p:cNvPr id="5" name="TextBox 4"/>
          <p:cNvSpPr txBox="1"/>
          <p:nvPr/>
        </p:nvSpPr>
        <p:spPr>
          <a:xfrm>
            <a:off x="10789920" y="411480"/>
            <a:ext cx="822960" cy="365760"/>
          </a:xfrm>
          <a:prstGeom prst="rect">
            <a:avLst/>
          </a:prstGeom>
          <a:noFill/>
        </p:spPr>
        <p:txBody>
          <a:bodyPr wrap="none">
            <a:spAutoFit/>
          </a:bodyPr>
          <a:lstStyle/>
          <a:p>
            <a:pPr algn="r">
              <a:defRPr sz="1150" b="1">
                <a:solidFill>
                  <a:srgbClr val="00F0FF"/>
                </a:solidFill>
              </a:defRPr>
            </a:pPr>
            <a:r>
              <a:t>07 / 12</a:t>
            </a:r>
          </a:p>
        </p:txBody>
      </p:sp>
      <p:sp>
        <p:nvSpPr>
          <p:cNvPr id="6" name="Rounded Rectangle 5"/>
          <p:cNvSpPr/>
          <p:nvPr/>
        </p:nvSpPr>
        <p:spPr>
          <a:xfrm>
            <a:off x="731520" y="1600200"/>
            <a:ext cx="4114800" cy="2194560"/>
          </a:xfrm>
          <a:prstGeom prst="roundRect">
            <a:avLst/>
          </a:prstGeom>
          <a:solidFill>
            <a:srgbClr val="0B2538"/>
          </a:solidFill>
          <a:ln w="1524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09928"/>
            <a:ext cx="3840480" cy="1975104"/>
          </a:xfrm>
          <a:prstGeom prst="rect">
            <a:avLst/>
          </a:prstGeom>
          <a:noFill/>
        </p:spPr>
        <p:txBody>
          <a:bodyPr wrap="square">
            <a:spAutoFit/>
          </a:bodyPr>
          <a:lstStyle/>
          <a:p>
            <a:pPr>
              <a:spcAft>
                <a:spcPts val="400"/>
              </a:spcAft>
              <a:defRPr sz="1100" b="1">
                <a:solidFill>
                  <a:srgbClr val="00F0FF"/>
                </a:solidFill>
              </a:defRPr>
            </a:pPr>
            <a:r>
              <a:t>PUF Key Reconstruction Pipeline</a:t>
            </a:r>
          </a:p>
          <a:p>
            <a:pPr>
              <a:spcAft>
                <a:spcPts val="300"/>
              </a:spcAft>
              <a:defRPr sz="900">
                <a:solidFill>
                  <a:srgbClr val="FFFFFF"/>
                </a:solidFill>
              </a:defRPr>
            </a:pPr>
            <a:r>
              <a:t>• Physical source: MOSFET threshold mismatch in standard SRAM</a:t>
            </a:r>
          </a:p>
          <a:p>
            <a:pPr>
              <a:spcAft>
                <a:spcPts val="300"/>
              </a:spcAft>
              <a:defRPr sz="900">
                <a:solidFill>
                  <a:srgbClr val="FFFFFF"/>
                </a:solidFill>
              </a:defRPr>
            </a:pPr>
            <a:r>
              <a:t>• Noise correction: BCH Error Correction Code (ECC) engine</a:t>
            </a:r>
          </a:p>
          <a:p>
            <a:pPr>
              <a:spcAft>
                <a:spcPts val="300"/>
              </a:spcAft>
              <a:defRPr sz="900">
                <a:solidFill>
                  <a:srgbClr val="FFFFFF"/>
                </a:solidFill>
              </a:defRPr>
            </a:pPr>
            <a:r>
              <a:t>• Privacy amplification: Compresses entropy to remove bias</a:t>
            </a:r>
          </a:p>
          <a:p>
            <a:pPr>
              <a:spcAft>
                <a:spcPts val="300"/>
              </a:spcAft>
              <a:defRPr sz="900">
                <a:solidFill>
                  <a:srgbClr val="FFFFFF"/>
                </a:solidFill>
              </a:defRPr>
            </a:pPr>
            <a:r>
              <a:t>• Output: 100% stable, unique 256-bit cryptographic root key</a:t>
            </a:r>
          </a:p>
        </p:txBody>
      </p:sp>
      <p:sp>
        <p:nvSpPr>
          <p:cNvPr id="8" name="Rounded Rectangle 7"/>
          <p:cNvSpPr/>
          <p:nvPr/>
        </p:nvSpPr>
        <p:spPr>
          <a:xfrm>
            <a:off x="731520" y="3931920"/>
            <a:ext cx="4114800" cy="2240280"/>
          </a:xfrm>
          <a:prstGeom prst="roundRect">
            <a:avLst/>
          </a:prstGeom>
          <a:solidFill>
            <a:srgbClr val="0B2538"/>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041648"/>
            <a:ext cx="3840480" cy="2020824"/>
          </a:xfrm>
          <a:prstGeom prst="rect">
            <a:avLst/>
          </a:prstGeom>
          <a:noFill/>
        </p:spPr>
        <p:txBody>
          <a:bodyPr wrap="square">
            <a:spAutoFit/>
          </a:bodyPr>
          <a:lstStyle/>
          <a:p>
            <a:pPr>
              <a:spcAft>
                <a:spcPts val="400"/>
              </a:spcAft>
              <a:defRPr sz="1100" b="1">
                <a:solidFill>
                  <a:srgbClr val="10B981"/>
                </a:solidFill>
              </a:defRPr>
            </a:pPr>
            <a:r>
              <a:t>Activation Code Security Guarantees</a:t>
            </a:r>
          </a:p>
          <a:p>
            <a:pPr>
              <a:spcAft>
                <a:spcPts val="300"/>
              </a:spcAft>
              <a:defRPr sz="900">
                <a:solidFill>
                  <a:srgbClr val="FFFFFF"/>
                </a:solidFill>
              </a:defRPr>
            </a:pPr>
            <a:r>
              <a:t>• Activation Code contains only syndrome data for ECC alignment</a:t>
            </a:r>
          </a:p>
          <a:p>
            <a:pPr>
              <a:spcAft>
                <a:spcPts val="300"/>
              </a:spcAft>
              <a:defRPr sz="900">
                <a:solidFill>
                  <a:srgbClr val="FFFFFF"/>
                </a:solidFill>
              </a:defRPr>
            </a:pPr>
            <a:r>
              <a:t>• Mathematical proof: Leaks exactly 0 bits of mutual information</a:t>
            </a:r>
          </a:p>
          <a:p>
            <a:pPr>
              <a:spcAft>
                <a:spcPts val="300"/>
              </a:spcAft>
              <a:defRPr sz="900">
                <a:solidFill>
                  <a:srgbClr val="FFFFFF"/>
                </a:solidFill>
              </a:defRPr>
            </a:pPr>
            <a:r>
              <a:t>• Publicly stored in Flash/OTP without compromising root secret</a:t>
            </a:r>
          </a:p>
          <a:p>
            <a:pPr>
              <a:spcAft>
                <a:spcPts val="300"/>
              </a:spcAft>
              <a:defRPr sz="900">
                <a:solidFill>
                  <a:srgbClr val="FFFFFF"/>
                </a:solidFill>
              </a:defRPr>
            </a:pPr>
            <a:r>
              <a:t>• Rigorously audited by leading academic and commercial certifiers</a:t>
            </a:r>
          </a:p>
        </p:txBody>
      </p:sp>
      <p:pic>
        <p:nvPicPr>
          <p:cNvPr id="10" name="Picture 9" descr="ai_visual_slide_07.jpg"/>
          <p:cNvPicPr>
            <a:picLocks noChangeAspect="1"/>
          </p:cNvPicPr>
          <p:nvPr/>
        </p:nvPicPr>
        <p:blipFill>
          <a:blip r:embed="rId2"/>
          <a:stretch>
            <a:fillRect/>
          </a:stretch>
        </p:blipFill>
        <p:spPr>
          <a:xfrm>
            <a:off x="5029200" y="1600200"/>
            <a:ext cx="6400800" cy="4572000"/>
          </a:xfrm>
          <a:prstGeom prst="rect">
            <a:avLst/>
          </a:prstGeom>
        </p:spPr>
      </p:pic>
      <p:sp>
        <p:nvSpPr>
          <p:cNvPr id="11" name="TextBox 10"/>
          <p:cNvSpPr txBox="1"/>
          <p:nvPr/>
        </p:nvSpPr>
        <p:spPr>
          <a:xfrm>
            <a:off x="731520" y="6355080"/>
            <a:ext cx="6858000" cy="274320"/>
          </a:xfrm>
          <a:prstGeom prst="rect">
            <a:avLst/>
          </a:prstGeom>
          <a:noFill/>
        </p:spPr>
        <p:txBody>
          <a:bodyPr wrap="none">
            <a:spAutoFit/>
          </a:bodyPr>
          <a:lstStyle/>
          <a:p>
            <a:pPr>
              <a:defRPr sz="800">
                <a:solidFill>
                  <a:srgbClr val="94A3B8"/>
                </a:solidFill>
              </a:defRPr>
            </a:pPr>
            <a:r>
              <a:t>TSMC OIP TECHNICAL BRIEFING  |  SECURE STORAGE ARCHITECTURES  |  CONFIDENTIAL</a:t>
            </a:r>
          </a:p>
        </p:txBody>
      </p:sp>
      <p:sp>
        <p:nvSpPr>
          <p:cNvPr id="12" name="TextBox 11"/>
          <p:cNvSpPr txBox="1"/>
          <p:nvPr/>
        </p:nvSpPr>
        <p:spPr>
          <a:xfrm>
            <a:off x="6858000" y="6355080"/>
            <a:ext cx="4572000" cy="274320"/>
          </a:xfrm>
          <a:prstGeom prst="rect">
            <a:avLst/>
          </a:prstGeom>
          <a:noFill/>
        </p:spPr>
        <p:txBody>
          <a:bodyPr wrap="none">
            <a:spAutoFit/>
          </a:bodyPr>
          <a:lstStyle/>
          <a:p>
            <a:pPr algn="r">
              <a:defRPr sz="800" b="1">
                <a:solidFill>
                  <a:srgbClr val="38BDF8"/>
                </a:solidFill>
              </a:defRPr>
            </a:pPr>
            <a:r>
              <a:t>Information-Theoretic Proof: Public helper data discloses mathematically zero key bits.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61B29"/>
        </a:solidFill>
        <a:effectLst/>
      </p:bgPr>
    </p:bg>
    <p:spTree>
      <p:nvGrpSpPr>
        <p:cNvPr id="1" name=""/>
        <p:cNvGrpSpPr/>
        <p:nvPr/>
      </p:nvGrpSpPr>
      <p:grpSpPr/>
      <p:sp>
        <p:nvSpPr>
          <p:cNvPr id="2" name="TextBox 1"/>
          <p:cNvSpPr txBox="1"/>
          <p:nvPr/>
        </p:nvSpPr>
        <p:spPr>
          <a:xfrm>
            <a:off x="731520" y="365760"/>
            <a:ext cx="9601200" cy="320040"/>
          </a:xfrm>
          <a:prstGeom prst="rect">
            <a:avLst/>
          </a:prstGeom>
          <a:noFill/>
        </p:spPr>
        <p:txBody>
          <a:bodyPr wrap="square">
            <a:spAutoFit/>
          </a:bodyPr>
          <a:lstStyle/>
          <a:p>
            <a:pPr>
              <a:defRPr sz="1000" b="1">
                <a:solidFill>
                  <a:srgbClr val="00F0FF"/>
                </a:solidFill>
              </a:defRPr>
            </a:pPr>
            <a:r>
              <a:t>07 / COMMERCIAL EVIDENCE</a:t>
            </a:r>
          </a:p>
        </p:txBody>
      </p:sp>
      <p:sp>
        <p:nvSpPr>
          <p:cNvPr id="3" name="TextBox 2"/>
          <p:cNvSpPr txBox="1"/>
          <p:nvPr/>
        </p:nvSpPr>
        <p:spPr>
          <a:xfrm>
            <a:off x="731520" y="658368"/>
            <a:ext cx="9601200" cy="548640"/>
          </a:xfrm>
          <a:prstGeom prst="rect">
            <a:avLst/>
          </a:prstGeom>
          <a:noFill/>
        </p:spPr>
        <p:txBody>
          <a:bodyPr wrap="square">
            <a:spAutoFit/>
          </a:bodyPr>
          <a:lstStyle/>
          <a:p>
            <a:pPr>
              <a:defRPr sz="1800" b="1">
                <a:solidFill>
                  <a:srgbClr val="FFFFFF"/>
                </a:solidFill>
              </a:defRPr>
            </a:pPr>
            <a:r>
              <a:t>Commercial Proof: 1.5B+ Devices and Extreme Automotive Reliability</a:t>
            </a:r>
          </a:p>
        </p:txBody>
      </p:sp>
      <p:sp>
        <p:nvSpPr>
          <p:cNvPr id="4" name="TextBox 3"/>
          <p:cNvSpPr txBox="1"/>
          <p:nvPr/>
        </p:nvSpPr>
        <p:spPr>
          <a:xfrm>
            <a:off x="731520" y="1188720"/>
            <a:ext cx="9601200" cy="320040"/>
          </a:xfrm>
          <a:prstGeom prst="rect">
            <a:avLst/>
          </a:prstGeom>
          <a:noFill/>
        </p:spPr>
        <p:txBody>
          <a:bodyPr wrap="square">
            <a:spAutoFit/>
          </a:bodyPr>
          <a:lstStyle/>
          <a:p>
            <a:pPr>
              <a:defRPr sz="1050">
                <a:solidFill>
                  <a:srgbClr val="94A3B8"/>
                </a:solidFill>
              </a:defRPr>
            </a:pPr>
            <a:r>
              <a:t>Field Maturity Informs—and Target Silicon Evaluation Closes the Security Claim</a:t>
            </a:r>
          </a:p>
        </p:txBody>
      </p:sp>
      <p:sp>
        <p:nvSpPr>
          <p:cNvPr id="5" name="TextBox 4"/>
          <p:cNvSpPr txBox="1"/>
          <p:nvPr/>
        </p:nvSpPr>
        <p:spPr>
          <a:xfrm>
            <a:off x="10789920" y="411480"/>
            <a:ext cx="822960" cy="365760"/>
          </a:xfrm>
          <a:prstGeom prst="rect">
            <a:avLst/>
          </a:prstGeom>
          <a:noFill/>
        </p:spPr>
        <p:txBody>
          <a:bodyPr wrap="none">
            <a:spAutoFit/>
          </a:bodyPr>
          <a:lstStyle/>
          <a:p>
            <a:pPr algn="r">
              <a:defRPr sz="1150" b="1">
                <a:solidFill>
                  <a:srgbClr val="00F0FF"/>
                </a:solidFill>
              </a:defRPr>
            </a:pPr>
            <a:r>
              <a:t>08 / 12</a:t>
            </a:r>
          </a:p>
        </p:txBody>
      </p:sp>
      <p:sp>
        <p:nvSpPr>
          <p:cNvPr id="6" name="Rounded Rectangle 5"/>
          <p:cNvSpPr/>
          <p:nvPr/>
        </p:nvSpPr>
        <p:spPr>
          <a:xfrm>
            <a:off x="731520" y="1600200"/>
            <a:ext cx="4114800" cy="2194560"/>
          </a:xfrm>
          <a:prstGeom prst="roundRect">
            <a:avLst/>
          </a:prstGeom>
          <a:solidFill>
            <a:srgbClr val="0B2538"/>
          </a:solidFill>
          <a:ln w="1524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09928"/>
            <a:ext cx="3840480" cy="1975104"/>
          </a:xfrm>
          <a:prstGeom prst="rect">
            <a:avLst/>
          </a:prstGeom>
          <a:noFill/>
        </p:spPr>
        <p:txBody>
          <a:bodyPr wrap="square">
            <a:spAutoFit/>
          </a:bodyPr>
          <a:lstStyle/>
          <a:p>
            <a:pPr>
              <a:spcAft>
                <a:spcPts val="400"/>
              </a:spcAft>
              <a:defRPr sz="1100" b="1">
                <a:solidFill>
                  <a:srgbClr val="00F0FF"/>
                </a:solidFill>
              </a:defRPr>
            </a:pPr>
            <a:r>
              <a:t>Global Production Deployment Track Record</a:t>
            </a:r>
          </a:p>
          <a:p>
            <a:pPr>
              <a:spcAft>
                <a:spcPts val="300"/>
              </a:spcAft>
              <a:defRPr sz="900">
                <a:solidFill>
                  <a:srgbClr val="FFFFFF"/>
                </a:solidFill>
              </a:defRPr>
            </a:pPr>
            <a:r>
              <a:t>• 1.5B+ devices shipped with SRAM PUF hardware technology</a:t>
            </a:r>
          </a:p>
          <a:p>
            <a:pPr>
              <a:spcAft>
                <a:spcPts val="300"/>
              </a:spcAft>
              <a:defRPr sz="900">
                <a:solidFill>
                  <a:srgbClr val="FFFFFF"/>
                </a:solidFill>
              </a:defRPr>
            </a:pPr>
            <a:r>
              <a:t>• 15+ years commercial deployment in aerospace, defense &amp; auto</a:t>
            </a:r>
          </a:p>
          <a:p>
            <a:pPr>
              <a:spcAft>
                <a:spcPts val="300"/>
              </a:spcAft>
              <a:defRPr sz="900">
                <a:solidFill>
                  <a:srgbClr val="FFFFFF"/>
                </a:solidFill>
              </a:defRPr>
            </a:pPr>
            <a:r>
              <a:t>• Node-agnostic architecture validated from 350nm down to 2nm</a:t>
            </a:r>
          </a:p>
          <a:p>
            <a:pPr>
              <a:spcAft>
                <a:spcPts val="300"/>
              </a:spcAft>
              <a:defRPr sz="900">
                <a:solidFill>
                  <a:srgbClr val="FFFFFF"/>
                </a:solidFill>
              </a:defRPr>
            </a:pPr>
            <a:r>
              <a:t>• Pure standard CMOS compatible: No extra masks or custom layers</a:t>
            </a:r>
          </a:p>
        </p:txBody>
      </p:sp>
      <p:sp>
        <p:nvSpPr>
          <p:cNvPr id="8" name="Rounded Rectangle 7"/>
          <p:cNvSpPr/>
          <p:nvPr/>
        </p:nvSpPr>
        <p:spPr>
          <a:xfrm>
            <a:off x="731520" y="3931920"/>
            <a:ext cx="4114800" cy="2240280"/>
          </a:xfrm>
          <a:prstGeom prst="roundRect">
            <a:avLst/>
          </a:prstGeom>
          <a:solidFill>
            <a:srgbClr val="0B2538"/>
          </a:solidFill>
          <a:ln w="15240">
            <a:solidFill>
              <a:srgbClr val="FF8C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041648"/>
            <a:ext cx="3840480" cy="2020824"/>
          </a:xfrm>
          <a:prstGeom prst="rect">
            <a:avLst/>
          </a:prstGeom>
          <a:noFill/>
        </p:spPr>
        <p:txBody>
          <a:bodyPr wrap="square">
            <a:spAutoFit/>
          </a:bodyPr>
          <a:lstStyle/>
          <a:p>
            <a:pPr>
              <a:spcAft>
                <a:spcPts val="400"/>
              </a:spcAft>
              <a:defRPr sz="1100" b="1">
                <a:solidFill>
                  <a:srgbClr val="FF8C42"/>
                </a:solidFill>
              </a:defRPr>
            </a:pPr>
            <a:r>
              <a:t>Extreme Environment &amp; Security Standards</a:t>
            </a:r>
          </a:p>
          <a:p>
            <a:pPr>
              <a:spcAft>
                <a:spcPts val="300"/>
              </a:spcAft>
              <a:defRPr sz="900">
                <a:solidFill>
                  <a:srgbClr val="FFFFFF"/>
                </a:solidFill>
              </a:defRPr>
            </a:pPr>
            <a:r>
              <a:t>• Qualified across -40°C to 150°C PVT &amp; accelerated aging models</a:t>
            </a:r>
          </a:p>
          <a:p>
            <a:pPr>
              <a:spcAft>
                <a:spcPts val="300"/>
              </a:spcAft>
              <a:defRPr sz="900">
                <a:solidFill>
                  <a:srgbClr val="FFFFFF"/>
                </a:solidFill>
              </a:defRPr>
            </a:pPr>
            <a:r>
              <a:t>• AEC-Q100 Grade 1 automotive certification compliance</a:t>
            </a:r>
          </a:p>
          <a:p>
            <a:pPr>
              <a:spcAft>
                <a:spcPts val="300"/>
              </a:spcAft>
              <a:defRPr sz="900">
                <a:solidFill>
                  <a:srgbClr val="FFFFFF"/>
                </a:solidFill>
              </a:defRPr>
            </a:pPr>
            <a:r>
              <a:t>• PSA Certified Level 3 &amp; SESIP Level 3 hardware security</a:t>
            </a:r>
          </a:p>
          <a:p>
            <a:pPr>
              <a:spcAft>
                <a:spcPts val="300"/>
              </a:spcAft>
              <a:defRPr sz="900">
                <a:solidFill>
                  <a:srgbClr val="FFFFFF"/>
                </a:solidFill>
              </a:defRPr>
            </a:pPr>
            <a:r>
              <a:t>• NIST CAVP cryptographic algorithm validation compliance</a:t>
            </a:r>
          </a:p>
        </p:txBody>
      </p:sp>
      <p:pic>
        <p:nvPicPr>
          <p:cNvPr id="10" name="Picture 9" descr="ai_visual_slide_08.jpg"/>
          <p:cNvPicPr>
            <a:picLocks noChangeAspect="1"/>
          </p:cNvPicPr>
          <p:nvPr/>
        </p:nvPicPr>
        <p:blipFill>
          <a:blip r:embed="rId2"/>
          <a:stretch>
            <a:fillRect/>
          </a:stretch>
        </p:blipFill>
        <p:spPr>
          <a:xfrm>
            <a:off x="5029200" y="1600200"/>
            <a:ext cx="6400800" cy="4572000"/>
          </a:xfrm>
          <a:prstGeom prst="rect">
            <a:avLst/>
          </a:prstGeom>
        </p:spPr>
      </p:pic>
      <p:sp>
        <p:nvSpPr>
          <p:cNvPr id="11" name="TextBox 10"/>
          <p:cNvSpPr txBox="1"/>
          <p:nvPr/>
        </p:nvSpPr>
        <p:spPr>
          <a:xfrm>
            <a:off x="731520" y="6355080"/>
            <a:ext cx="6858000" cy="274320"/>
          </a:xfrm>
          <a:prstGeom prst="rect">
            <a:avLst/>
          </a:prstGeom>
          <a:noFill/>
        </p:spPr>
        <p:txBody>
          <a:bodyPr wrap="none">
            <a:spAutoFit/>
          </a:bodyPr>
          <a:lstStyle/>
          <a:p>
            <a:pPr>
              <a:defRPr sz="800">
                <a:solidFill>
                  <a:srgbClr val="94A3B8"/>
                </a:solidFill>
              </a:defRPr>
            </a:pPr>
            <a:r>
              <a:t>TSMC OIP TECHNICAL BRIEFING  |  SECURE STORAGE ARCHITECTURES  |  CONFIDENTIAL</a:t>
            </a:r>
          </a:p>
        </p:txBody>
      </p:sp>
      <p:sp>
        <p:nvSpPr>
          <p:cNvPr id="12" name="TextBox 11"/>
          <p:cNvSpPr txBox="1"/>
          <p:nvPr/>
        </p:nvSpPr>
        <p:spPr>
          <a:xfrm>
            <a:off x="6858000" y="6355080"/>
            <a:ext cx="4572000" cy="274320"/>
          </a:xfrm>
          <a:prstGeom prst="rect">
            <a:avLst/>
          </a:prstGeom>
          <a:noFill/>
        </p:spPr>
        <p:txBody>
          <a:bodyPr wrap="none">
            <a:spAutoFit/>
          </a:bodyPr>
          <a:lstStyle/>
          <a:p>
            <a:pPr algn="r">
              <a:defRPr sz="800" b="1">
                <a:solidFill>
                  <a:srgbClr val="38BDF8"/>
                </a:solidFill>
              </a:defRPr>
            </a:pPr>
            <a:r>
              <a:t>Field maturity reduces uncertainty; target silicon evaluation closes the claim.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61B29"/>
        </a:solidFill>
        <a:effectLst/>
      </p:bgPr>
    </p:bg>
    <p:spTree>
      <p:nvGrpSpPr>
        <p:cNvPr id="1" name=""/>
        <p:cNvGrpSpPr/>
        <p:nvPr/>
      </p:nvGrpSpPr>
      <p:grpSpPr/>
      <p:sp>
        <p:nvSpPr>
          <p:cNvPr id="2" name="TextBox 1"/>
          <p:cNvSpPr txBox="1"/>
          <p:nvPr/>
        </p:nvSpPr>
        <p:spPr>
          <a:xfrm>
            <a:off x="731520" y="365760"/>
            <a:ext cx="9601200" cy="320040"/>
          </a:xfrm>
          <a:prstGeom prst="rect">
            <a:avLst/>
          </a:prstGeom>
          <a:noFill/>
        </p:spPr>
        <p:txBody>
          <a:bodyPr wrap="square">
            <a:spAutoFit/>
          </a:bodyPr>
          <a:lstStyle/>
          <a:p>
            <a:pPr>
              <a:defRPr sz="1000" b="1">
                <a:solidFill>
                  <a:srgbClr val="00F0FF"/>
                </a:solidFill>
              </a:defRPr>
            </a:pPr>
            <a:r>
              <a:t>08 / INTEGRATED DELIVERY</a:t>
            </a:r>
          </a:p>
        </p:txBody>
      </p:sp>
      <p:sp>
        <p:nvSpPr>
          <p:cNvPr id="3" name="TextBox 2"/>
          <p:cNvSpPr txBox="1"/>
          <p:nvPr/>
        </p:nvSpPr>
        <p:spPr>
          <a:xfrm>
            <a:off x="731520" y="658368"/>
            <a:ext cx="9601200" cy="548640"/>
          </a:xfrm>
          <a:prstGeom prst="rect">
            <a:avLst/>
          </a:prstGeom>
          <a:noFill/>
        </p:spPr>
        <p:txBody>
          <a:bodyPr wrap="square">
            <a:spAutoFit/>
          </a:bodyPr>
          <a:lstStyle/>
          <a:p>
            <a:pPr>
              <a:defRPr sz="1800" b="1">
                <a:solidFill>
                  <a:srgbClr val="FFFFFF"/>
                </a:solidFill>
              </a:defRPr>
            </a:pPr>
            <a:r>
              <a:t>Integration is the Product: Single-Provider Accountability</a:t>
            </a:r>
          </a:p>
        </p:txBody>
      </p:sp>
      <p:sp>
        <p:nvSpPr>
          <p:cNvPr id="4" name="TextBox 3"/>
          <p:cNvSpPr txBox="1"/>
          <p:nvPr/>
        </p:nvSpPr>
        <p:spPr>
          <a:xfrm>
            <a:off x="731520" y="1188720"/>
            <a:ext cx="9601200" cy="320040"/>
          </a:xfrm>
          <a:prstGeom prst="rect">
            <a:avLst/>
          </a:prstGeom>
          <a:noFill/>
        </p:spPr>
        <p:txBody>
          <a:bodyPr wrap="square">
            <a:spAutoFit/>
          </a:bodyPr>
          <a:lstStyle/>
          <a:p>
            <a:pPr>
              <a:defRPr sz="1050">
                <a:solidFill>
                  <a:srgbClr val="94A3B8"/>
                </a:solidFill>
              </a:defRPr>
            </a:pPr>
            <a:r>
              <a:t>Customers Buy One Accountable Outcome: Root, Crypto, Storage, Control &amp; Lifecycle</a:t>
            </a:r>
          </a:p>
        </p:txBody>
      </p:sp>
      <p:sp>
        <p:nvSpPr>
          <p:cNvPr id="5" name="TextBox 4"/>
          <p:cNvSpPr txBox="1"/>
          <p:nvPr/>
        </p:nvSpPr>
        <p:spPr>
          <a:xfrm>
            <a:off x="10789920" y="411480"/>
            <a:ext cx="822960" cy="365760"/>
          </a:xfrm>
          <a:prstGeom prst="rect">
            <a:avLst/>
          </a:prstGeom>
          <a:noFill/>
        </p:spPr>
        <p:txBody>
          <a:bodyPr wrap="none">
            <a:spAutoFit/>
          </a:bodyPr>
          <a:lstStyle/>
          <a:p>
            <a:pPr algn="r">
              <a:defRPr sz="1150" b="1">
                <a:solidFill>
                  <a:srgbClr val="00F0FF"/>
                </a:solidFill>
              </a:defRPr>
            </a:pPr>
            <a:r>
              <a:t>09 / 12</a:t>
            </a:r>
          </a:p>
        </p:txBody>
      </p:sp>
      <p:sp>
        <p:nvSpPr>
          <p:cNvPr id="6" name="Rounded Rectangle 5"/>
          <p:cNvSpPr/>
          <p:nvPr/>
        </p:nvSpPr>
        <p:spPr>
          <a:xfrm>
            <a:off x="731520" y="1600200"/>
            <a:ext cx="4114800" cy="2194560"/>
          </a:xfrm>
          <a:prstGeom prst="roundRect">
            <a:avLst/>
          </a:prstGeom>
          <a:solidFill>
            <a:srgbClr val="0B2538"/>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09928"/>
            <a:ext cx="3840480" cy="1975104"/>
          </a:xfrm>
          <a:prstGeom prst="rect">
            <a:avLst/>
          </a:prstGeom>
          <a:noFill/>
        </p:spPr>
        <p:txBody>
          <a:bodyPr wrap="square">
            <a:spAutoFit/>
          </a:bodyPr>
          <a:lstStyle/>
          <a:p>
            <a:pPr>
              <a:spcAft>
                <a:spcPts val="400"/>
              </a:spcAft>
              <a:defRPr sz="1100" b="1">
                <a:solidFill>
                  <a:srgbClr val="A855F7"/>
                </a:solidFill>
              </a:defRPr>
            </a:pPr>
            <a:r>
              <a:t>Five-Pillar Cohesive Delivery</a:t>
            </a:r>
          </a:p>
          <a:p>
            <a:pPr>
              <a:spcAft>
                <a:spcPts val="300"/>
              </a:spcAft>
              <a:defRPr sz="900">
                <a:solidFill>
                  <a:srgbClr val="FFFFFF"/>
                </a:solidFill>
              </a:defRPr>
            </a:pPr>
            <a:r>
              <a:t>• 1. ROOT: SRAM PUF dynamic key generation</a:t>
            </a:r>
          </a:p>
          <a:p>
            <a:pPr>
              <a:spcAft>
                <a:spcPts val="300"/>
              </a:spcAft>
              <a:defRPr sz="900">
                <a:solidFill>
                  <a:srgbClr val="FFFFFF"/>
                </a:solidFill>
              </a:defRPr>
            </a:pPr>
            <a:r>
              <a:t>• 2. CRYPTO: High-speed line-rate AES-256 core</a:t>
            </a:r>
          </a:p>
          <a:p>
            <a:pPr>
              <a:spcAft>
                <a:spcPts val="300"/>
              </a:spcAft>
              <a:defRPr sz="900">
                <a:solidFill>
                  <a:srgbClr val="FFFFFF"/>
                </a:solidFill>
              </a:defRPr>
            </a:pPr>
            <a:r>
              <a:t>• 3. STORAGE: AntiFuse OTP permanent ciphertext array</a:t>
            </a:r>
          </a:p>
          <a:p>
            <a:pPr>
              <a:spcAft>
                <a:spcPts val="300"/>
              </a:spcAft>
              <a:defRPr sz="900">
                <a:solidFill>
                  <a:srgbClr val="FFFFFF"/>
                </a:solidFill>
              </a:defRPr>
            </a:pPr>
            <a:r>
              <a:t>• 4. CONTROL: Secure APB controller &amp; address scrambling</a:t>
            </a:r>
          </a:p>
          <a:p>
            <a:pPr>
              <a:spcAft>
                <a:spcPts val="300"/>
              </a:spcAft>
              <a:defRPr sz="900">
                <a:solidFill>
                  <a:srgbClr val="FFFFFF"/>
                </a:solidFill>
              </a:defRPr>
            </a:pPr>
            <a:r>
              <a:t>• 5. LIFECYCLE: Zero-trust provisioning &amp; lifetime support</a:t>
            </a:r>
          </a:p>
        </p:txBody>
      </p:sp>
      <p:sp>
        <p:nvSpPr>
          <p:cNvPr id="8" name="Rounded Rectangle 7"/>
          <p:cNvSpPr/>
          <p:nvPr/>
        </p:nvSpPr>
        <p:spPr>
          <a:xfrm>
            <a:off x="731520" y="3931920"/>
            <a:ext cx="4114800" cy="2240280"/>
          </a:xfrm>
          <a:prstGeom prst="roundRect">
            <a:avLst/>
          </a:prstGeom>
          <a:solidFill>
            <a:srgbClr val="0B2538"/>
          </a:solidFill>
          <a:ln w="1524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041648"/>
            <a:ext cx="3840480" cy="2020824"/>
          </a:xfrm>
          <a:prstGeom prst="rect">
            <a:avLst/>
          </a:prstGeom>
          <a:noFill/>
        </p:spPr>
        <p:txBody>
          <a:bodyPr wrap="square">
            <a:spAutoFit/>
          </a:bodyPr>
          <a:lstStyle/>
          <a:p>
            <a:pPr>
              <a:spcAft>
                <a:spcPts val="400"/>
              </a:spcAft>
              <a:defRPr sz="1100" b="1">
                <a:solidFill>
                  <a:srgbClr val="00F0FF"/>
                </a:solidFill>
              </a:defRPr>
            </a:pPr>
            <a:r>
              <a:t>Eliminating Multi-Vendor Fragmentation Risks</a:t>
            </a:r>
          </a:p>
          <a:p>
            <a:pPr>
              <a:spcAft>
                <a:spcPts val="300"/>
              </a:spcAft>
              <a:defRPr sz="900">
                <a:solidFill>
                  <a:srgbClr val="FFFFFF"/>
                </a:solidFill>
              </a:defRPr>
            </a:pPr>
            <a:r>
              <a:t>• Multi-vendor risks: Incompatible resets, bus leaks, finger-pointing</a:t>
            </a:r>
          </a:p>
          <a:p>
            <a:pPr>
              <a:spcAft>
                <a:spcPts val="300"/>
              </a:spcAft>
              <a:defRPr sz="900">
                <a:solidFill>
                  <a:srgbClr val="FFFFFF"/>
                </a:solidFill>
              </a:defRPr>
            </a:pPr>
            <a:r>
              <a:t>• Monolithic IP: Single contract, pre-verified silicon boundary</a:t>
            </a:r>
          </a:p>
          <a:p>
            <a:pPr>
              <a:spcAft>
                <a:spcPts val="300"/>
              </a:spcAft>
              <a:defRPr sz="900">
                <a:solidFill>
                  <a:srgbClr val="FFFFFF"/>
                </a:solidFill>
              </a:defRPr>
            </a:pPr>
            <a:r>
              <a:t>• Accelerates SoC time-to-market and simplifies cert audit trails</a:t>
            </a:r>
          </a:p>
          <a:p>
            <a:pPr>
              <a:spcAft>
                <a:spcPts val="300"/>
              </a:spcAft>
              <a:defRPr sz="900">
                <a:solidFill>
                  <a:srgbClr val="FFFFFF"/>
                </a:solidFill>
              </a:defRPr>
            </a:pPr>
            <a:r>
              <a:t>• Comprehensive wafer test, production provisioning &amp; response</a:t>
            </a:r>
          </a:p>
        </p:txBody>
      </p:sp>
      <p:pic>
        <p:nvPicPr>
          <p:cNvPr id="10" name="Picture 9" descr="ai_visual_slide_09.jpg"/>
          <p:cNvPicPr>
            <a:picLocks noChangeAspect="1"/>
          </p:cNvPicPr>
          <p:nvPr/>
        </p:nvPicPr>
        <p:blipFill>
          <a:blip r:embed="rId2"/>
          <a:stretch>
            <a:fillRect/>
          </a:stretch>
        </p:blipFill>
        <p:spPr>
          <a:xfrm>
            <a:off x="5029200" y="1600200"/>
            <a:ext cx="6400800" cy="4572000"/>
          </a:xfrm>
          <a:prstGeom prst="rect">
            <a:avLst/>
          </a:prstGeom>
        </p:spPr>
      </p:pic>
      <p:sp>
        <p:nvSpPr>
          <p:cNvPr id="11" name="TextBox 10"/>
          <p:cNvSpPr txBox="1"/>
          <p:nvPr/>
        </p:nvSpPr>
        <p:spPr>
          <a:xfrm>
            <a:off x="731520" y="6355080"/>
            <a:ext cx="6858000" cy="274320"/>
          </a:xfrm>
          <a:prstGeom prst="rect">
            <a:avLst/>
          </a:prstGeom>
          <a:noFill/>
        </p:spPr>
        <p:txBody>
          <a:bodyPr wrap="none">
            <a:spAutoFit/>
          </a:bodyPr>
          <a:lstStyle/>
          <a:p>
            <a:pPr>
              <a:defRPr sz="800">
                <a:solidFill>
                  <a:srgbClr val="94A3B8"/>
                </a:solidFill>
              </a:defRPr>
            </a:pPr>
            <a:r>
              <a:t>TSMC OIP TECHNICAL BRIEFING  |  SECURE STORAGE ARCHITECTURES  |  CONFIDENTIAL</a:t>
            </a:r>
          </a:p>
        </p:txBody>
      </p:sp>
      <p:sp>
        <p:nvSpPr>
          <p:cNvPr id="12" name="TextBox 11"/>
          <p:cNvSpPr txBox="1"/>
          <p:nvPr/>
        </p:nvSpPr>
        <p:spPr>
          <a:xfrm>
            <a:off x="6858000" y="6355080"/>
            <a:ext cx="4572000" cy="274320"/>
          </a:xfrm>
          <a:prstGeom prst="rect">
            <a:avLst/>
          </a:prstGeom>
          <a:noFill/>
        </p:spPr>
        <p:txBody>
          <a:bodyPr wrap="none">
            <a:spAutoFit/>
          </a:bodyPr>
          <a:lstStyle/>
          <a:p>
            <a:pPr algn="r">
              <a:defRPr sz="800" b="1">
                <a:solidFill>
                  <a:srgbClr val="38BDF8"/>
                </a:solidFill>
              </a:defRPr>
            </a:pPr>
            <a:r>
              <a:t>A secure primitive can still fail when interfaces, resets or ownership are fragmented.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61B29"/>
        </a:solidFill>
        <a:effectLst/>
      </p:bgPr>
    </p:bg>
    <p:spTree>
      <p:nvGrpSpPr>
        <p:cNvPr id="1" name=""/>
        <p:cNvGrpSpPr/>
        <p:nvPr/>
      </p:nvGrpSpPr>
      <p:grpSpPr/>
      <p:sp>
        <p:nvSpPr>
          <p:cNvPr id="2" name="TextBox 1"/>
          <p:cNvSpPr txBox="1"/>
          <p:nvPr/>
        </p:nvSpPr>
        <p:spPr>
          <a:xfrm>
            <a:off x="731520" y="365760"/>
            <a:ext cx="9601200" cy="320040"/>
          </a:xfrm>
          <a:prstGeom prst="rect">
            <a:avLst/>
          </a:prstGeom>
          <a:noFill/>
        </p:spPr>
        <p:txBody>
          <a:bodyPr wrap="square">
            <a:spAutoFit/>
          </a:bodyPr>
          <a:lstStyle/>
          <a:p>
            <a:pPr>
              <a:defRPr sz="1000" b="1">
                <a:solidFill>
                  <a:srgbClr val="00F0FF"/>
                </a:solidFill>
              </a:defRPr>
            </a:pPr>
            <a:r>
              <a:t>09 / TSMC OIP ECOSYSTEM</a:t>
            </a:r>
          </a:p>
        </p:txBody>
      </p:sp>
      <p:sp>
        <p:nvSpPr>
          <p:cNvPr id="3" name="TextBox 2"/>
          <p:cNvSpPr txBox="1"/>
          <p:nvPr/>
        </p:nvSpPr>
        <p:spPr>
          <a:xfrm>
            <a:off x="731520" y="658368"/>
            <a:ext cx="9601200" cy="548640"/>
          </a:xfrm>
          <a:prstGeom prst="rect">
            <a:avLst/>
          </a:prstGeom>
          <a:noFill/>
        </p:spPr>
        <p:txBody>
          <a:bodyPr wrap="square">
            <a:spAutoFit/>
          </a:bodyPr>
          <a:lstStyle/>
          <a:p>
            <a:pPr>
              <a:defRPr sz="1800" b="1">
                <a:solidFill>
                  <a:srgbClr val="FFFFFF"/>
                </a:solidFill>
              </a:defRPr>
            </a:pPr>
            <a:r>
              <a:t>TSMC OIP Readiness: Leading Process Nodes &amp; Evidence Closure</a:t>
            </a:r>
          </a:p>
        </p:txBody>
      </p:sp>
      <p:sp>
        <p:nvSpPr>
          <p:cNvPr id="4" name="TextBox 3"/>
          <p:cNvSpPr txBox="1"/>
          <p:nvPr/>
        </p:nvSpPr>
        <p:spPr>
          <a:xfrm>
            <a:off x="731520" y="1188720"/>
            <a:ext cx="9601200" cy="320040"/>
          </a:xfrm>
          <a:prstGeom prst="rect">
            <a:avLst/>
          </a:prstGeom>
          <a:noFill/>
        </p:spPr>
        <p:txBody>
          <a:bodyPr wrap="square">
            <a:spAutoFit/>
          </a:bodyPr>
          <a:lstStyle/>
          <a:p>
            <a:pPr>
              <a:defRPr sz="1050">
                <a:solidFill>
                  <a:srgbClr val="94A3B8"/>
                </a:solidFill>
              </a:defRPr>
            </a:pPr>
            <a:r>
              <a:t>Silicon-Verified Collateral Across N7, N6, N5, N4P, N3P and Automotive Variants</a:t>
            </a:r>
          </a:p>
        </p:txBody>
      </p:sp>
      <p:sp>
        <p:nvSpPr>
          <p:cNvPr id="5" name="TextBox 4"/>
          <p:cNvSpPr txBox="1"/>
          <p:nvPr/>
        </p:nvSpPr>
        <p:spPr>
          <a:xfrm>
            <a:off x="10789920" y="411480"/>
            <a:ext cx="822960" cy="365760"/>
          </a:xfrm>
          <a:prstGeom prst="rect">
            <a:avLst/>
          </a:prstGeom>
          <a:noFill/>
        </p:spPr>
        <p:txBody>
          <a:bodyPr wrap="none">
            <a:spAutoFit/>
          </a:bodyPr>
          <a:lstStyle/>
          <a:p>
            <a:pPr algn="r">
              <a:defRPr sz="1150" b="1">
                <a:solidFill>
                  <a:srgbClr val="00F0FF"/>
                </a:solidFill>
              </a:defRPr>
            </a:pPr>
            <a:r>
              <a:t>10 / 12</a:t>
            </a:r>
          </a:p>
        </p:txBody>
      </p:sp>
      <p:sp>
        <p:nvSpPr>
          <p:cNvPr id="6" name="Rounded Rectangle 5"/>
          <p:cNvSpPr/>
          <p:nvPr/>
        </p:nvSpPr>
        <p:spPr>
          <a:xfrm>
            <a:off x="731520" y="1600200"/>
            <a:ext cx="4114800" cy="2194560"/>
          </a:xfrm>
          <a:prstGeom prst="roundRect">
            <a:avLst/>
          </a:prstGeom>
          <a:solidFill>
            <a:srgbClr val="0B2538"/>
          </a:solidFill>
          <a:ln w="1524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09928"/>
            <a:ext cx="3840480" cy="1975104"/>
          </a:xfrm>
          <a:prstGeom prst="rect">
            <a:avLst/>
          </a:prstGeom>
          <a:noFill/>
        </p:spPr>
        <p:txBody>
          <a:bodyPr wrap="square">
            <a:spAutoFit/>
          </a:bodyPr>
          <a:lstStyle/>
          <a:p>
            <a:pPr>
              <a:spcAft>
                <a:spcPts val="400"/>
              </a:spcAft>
              <a:defRPr sz="1100" b="1">
                <a:solidFill>
                  <a:srgbClr val="00F0FF"/>
                </a:solidFill>
              </a:defRPr>
            </a:pPr>
            <a:r>
              <a:t>TSMC Advanced Process Node Support</a:t>
            </a:r>
          </a:p>
          <a:p>
            <a:pPr>
              <a:spcAft>
                <a:spcPts val="300"/>
              </a:spcAft>
              <a:defRPr sz="900">
                <a:solidFill>
                  <a:srgbClr val="FFFFFF"/>
                </a:solidFill>
              </a:defRPr>
            </a:pPr>
            <a:r>
              <a:t>• HPC &amp; AI Nodes: N7, N6, N5, N4P, N3P silicon correlation</a:t>
            </a:r>
          </a:p>
          <a:p>
            <a:pPr>
              <a:spcAft>
                <a:spcPts val="300"/>
              </a:spcAft>
              <a:defRPr sz="900">
                <a:solidFill>
                  <a:srgbClr val="FFFFFF"/>
                </a:solidFill>
              </a:defRPr>
            </a:pPr>
            <a:r>
              <a:t>• Automotive Grades: N7A, N5A AEC-Q100 Grade 1 qualified</a:t>
            </a:r>
          </a:p>
          <a:p>
            <a:pPr>
              <a:spcAft>
                <a:spcPts val="300"/>
              </a:spcAft>
              <a:defRPr sz="900">
                <a:solidFill>
                  <a:srgbClr val="FFFFFF"/>
                </a:solidFill>
              </a:defRPr>
            </a:pPr>
            <a:r>
              <a:t>• Inherent PUF portability: No process-specific analog tuning</a:t>
            </a:r>
          </a:p>
          <a:p>
            <a:pPr>
              <a:spcAft>
                <a:spcPts val="300"/>
              </a:spcAft>
              <a:defRPr sz="900">
                <a:solidFill>
                  <a:srgbClr val="FFFFFF"/>
                </a:solidFill>
              </a:defRPr>
            </a:pPr>
            <a:r>
              <a:t>• Ready for TSMC GAA (N2) next-generation roadmap</a:t>
            </a:r>
          </a:p>
        </p:txBody>
      </p:sp>
      <p:sp>
        <p:nvSpPr>
          <p:cNvPr id="8" name="Rounded Rectangle 7"/>
          <p:cNvSpPr/>
          <p:nvPr/>
        </p:nvSpPr>
        <p:spPr>
          <a:xfrm>
            <a:off x="731520" y="3931920"/>
            <a:ext cx="4114800" cy="2240280"/>
          </a:xfrm>
          <a:prstGeom prst="roundRect">
            <a:avLst/>
          </a:prstGeom>
          <a:solidFill>
            <a:srgbClr val="0B2538"/>
          </a:solidFill>
          <a:ln w="15240">
            <a:solidFill>
              <a:srgbClr val="FF8C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041648"/>
            <a:ext cx="3840480" cy="2020824"/>
          </a:xfrm>
          <a:prstGeom prst="rect">
            <a:avLst/>
          </a:prstGeom>
          <a:noFill/>
        </p:spPr>
        <p:txBody>
          <a:bodyPr wrap="square">
            <a:spAutoFit/>
          </a:bodyPr>
          <a:lstStyle/>
          <a:p>
            <a:pPr>
              <a:spcAft>
                <a:spcPts val="400"/>
              </a:spcAft>
              <a:defRPr sz="1100" b="1">
                <a:solidFill>
                  <a:srgbClr val="FF8C42"/>
                </a:solidFill>
              </a:defRPr>
            </a:pPr>
            <a:r>
              <a:t>OIP Silicon Evidence Closure Matrix</a:t>
            </a:r>
          </a:p>
          <a:p>
            <a:pPr>
              <a:spcAft>
                <a:spcPts val="300"/>
              </a:spcAft>
              <a:defRPr sz="900">
                <a:solidFill>
                  <a:srgbClr val="FFFFFF"/>
                </a:solidFill>
              </a:defRPr>
            </a:pPr>
            <a:r>
              <a:t>• Full TSMC silicon correlation reports across PVT corners</a:t>
            </a:r>
          </a:p>
          <a:p>
            <a:pPr>
              <a:spcAft>
                <a:spcPts val="300"/>
              </a:spcAft>
              <a:defRPr sz="900">
                <a:solidFill>
                  <a:srgbClr val="FFFFFF"/>
                </a:solidFill>
              </a:defRPr>
            </a:pPr>
            <a:r>
              <a:t>• Fault Injection (FI) &amp; Side-Channel Analysis (SCA) test data</a:t>
            </a:r>
          </a:p>
          <a:p>
            <a:pPr>
              <a:spcAft>
                <a:spcPts val="300"/>
              </a:spcAft>
              <a:defRPr sz="900">
                <a:solidFill>
                  <a:srgbClr val="FFFFFF"/>
                </a:solidFill>
              </a:defRPr>
            </a:pPr>
            <a:r>
              <a:t>• FIB / Passive Voltage Contrast physical characterization</a:t>
            </a:r>
          </a:p>
          <a:p>
            <a:pPr>
              <a:spcAft>
                <a:spcPts val="300"/>
              </a:spcAft>
              <a:defRPr sz="900">
                <a:solidFill>
                  <a:srgbClr val="FFFFFF"/>
                </a:solidFill>
              </a:defRPr>
            </a:pPr>
            <a:r>
              <a:t>• Complete design deliverables: GDSII, LEF, LIB, Verilog, Testbenches</a:t>
            </a:r>
          </a:p>
        </p:txBody>
      </p:sp>
      <p:pic>
        <p:nvPicPr>
          <p:cNvPr id="10" name="Picture 9" descr="ai_visual_slide_10.jpg"/>
          <p:cNvPicPr>
            <a:picLocks noChangeAspect="1"/>
          </p:cNvPicPr>
          <p:nvPr/>
        </p:nvPicPr>
        <p:blipFill>
          <a:blip r:embed="rId2"/>
          <a:stretch>
            <a:fillRect/>
          </a:stretch>
        </p:blipFill>
        <p:spPr>
          <a:xfrm>
            <a:off x="5029200" y="1600200"/>
            <a:ext cx="6400800" cy="4572000"/>
          </a:xfrm>
          <a:prstGeom prst="rect">
            <a:avLst/>
          </a:prstGeom>
        </p:spPr>
      </p:pic>
      <p:sp>
        <p:nvSpPr>
          <p:cNvPr id="11" name="TextBox 10"/>
          <p:cNvSpPr txBox="1"/>
          <p:nvPr/>
        </p:nvSpPr>
        <p:spPr>
          <a:xfrm>
            <a:off x="731520" y="6355080"/>
            <a:ext cx="6858000" cy="274320"/>
          </a:xfrm>
          <a:prstGeom prst="rect">
            <a:avLst/>
          </a:prstGeom>
          <a:noFill/>
        </p:spPr>
        <p:txBody>
          <a:bodyPr wrap="none">
            <a:spAutoFit/>
          </a:bodyPr>
          <a:lstStyle/>
          <a:p>
            <a:pPr>
              <a:defRPr sz="800">
                <a:solidFill>
                  <a:srgbClr val="94A3B8"/>
                </a:solidFill>
              </a:defRPr>
            </a:pPr>
            <a:r>
              <a:t>TSMC OIP TECHNICAL BRIEFING  |  SECURE STORAGE ARCHITECTURES  |  CONFIDENTIAL</a:t>
            </a:r>
          </a:p>
        </p:txBody>
      </p:sp>
      <p:sp>
        <p:nvSpPr>
          <p:cNvPr id="12" name="TextBox 11"/>
          <p:cNvSpPr txBox="1"/>
          <p:nvPr/>
        </p:nvSpPr>
        <p:spPr>
          <a:xfrm>
            <a:off x="6858000" y="6355080"/>
            <a:ext cx="4572000" cy="274320"/>
          </a:xfrm>
          <a:prstGeom prst="rect">
            <a:avLst/>
          </a:prstGeom>
          <a:noFill/>
        </p:spPr>
        <p:txBody>
          <a:bodyPr wrap="none">
            <a:spAutoFit/>
          </a:bodyPr>
          <a:lstStyle/>
          <a:p>
            <a:pPr algn="r">
              <a:defRPr sz="800" b="1">
                <a:solidFill>
                  <a:srgbClr val="38BDF8"/>
                </a:solidFill>
              </a:defRPr>
            </a:pPr>
            <a:r>
              <a:t>TSMC OIP readiness: Close evidence loop with qualified macro and target SoC boundary.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61B29"/>
        </a:solidFill>
        <a:effectLst/>
      </p:bgPr>
    </p:bg>
    <p:spTree>
      <p:nvGrpSpPr>
        <p:cNvPr id="1" name=""/>
        <p:cNvGrpSpPr/>
        <p:nvPr/>
      </p:nvGrpSpPr>
      <p:grpSpPr/>
      <p:sp>
        <p:nvSpPr>
          <p:cNvPr id="2" name="TextBox 1"/>
          <p:cNvSpPr txBox="1"/>
          <p:nvPr/>
        </p:nvSpPr>
        <p:spPr>
          <a:xfrm>
            <a:off x="731520" y="365760"/>
            <a:ext cx="9601200" cy="320040"/>
          </a:xfrm>
          <a:prstGeom prst="rect">
            <a:avLst/>
          </a:prstGeom>
          <a:noFill/>
        </p:spPr>
        <p:txBody>
          <a:bodyPr wrap="square">
            <a:spAutoFit/>
          </a:bodyPr>
          <a:lstStyle/>
          <a:p>
            <a:pPr>
              <a:defRPr sz="1000" b="1">
                <a:solidFill>
                  <a:srgbClr val="00F0FF"/>
                </a:solidFill>
              </a:defRPr>
            </a:pPr>
            <a:r>
              <a:t>10 / EXECUTIVE CONCLUSION</a:t>
            </a:r>
          </a:p>
        </p:txBody>
      </p:sp>
      <p:sp>
        <p:nvSpPr>
          <p:cNvPr id="3" name="TextBox 2"/>
          <p:cNvSpPr txBox="1"/>
          <p:nvPr/>
        </p:nvSpPr>
        <p:spPr>
          <a:xfrm>
            <a:off x="731520" y="658368"/>
            <a:ext cx="9601200" cy="548640"/>
          </a:xfrm>
          <a:prstGeom prst="rect">
            <a:avLst/>
          </a:prstGeom>
          <a:noFill/>
        </p:spPr>
        <p:txBody>
          <a:bodyPr wrap="square">
            <a:spAutoFit/>
          </a:bodyPr>
          <a:lstStyle/>
          <a:p>
            <a:pPr>
              <a:defRPr sz="1800" b="1">
                <a:solidFill>
                  <a:srgbClr val="FFFFFF"/>
                </a:solidFill>
              </a:defRPr>
            </a:pPr>
            <a:r>
              <a:t>Conclusion: Decoupling Physical Storage from Usable Secrets</a:t>
            </a:r>
          </a:p>
        </p:txBody>
      </p:sp>
      <p:sp>
        <p:nvSpPr>
          <p:cNvPr id="4" name="TextBox 3"/>
          <p:cNvSpPr txBox="1"/>
          <p:nvPr/>
        </p:nvSpPr>
        <p:spPr>
          <a:xfrm>
            <a:off x="731520" y="1188720"/>
            <a:ext cx="9601200" cy="320040"/>
          </a:xfrm>
          <a:prstGeom prst="rect">
            <a:avLst/>
          </a:prstGeom>
          <a:noFill/>
        </p:spPr>
        <p:txBody>
          <a:bodyPr wrap="square">
            <a:spAutoFit/>
          </a:bodyPr>
          <a:lstStyle/>
          <a:p>
            <a:pPr>
              <a:defRPr sz="1050">
                <a:solidFill>
                  <a:srgbClr val="94A3B8"/>
                </a:solidFill>
              </a:defRPr>
            </a:pPr>
            <a:r>
              <a:t>Delivering First-Time-Secure Silicon Assurance for AI, Automotive, IoT and HPC</a:t>
            </a:r>
          </a:p>
        </p:txBody>
      </p:sp>
      <p:sp>
        <p:nvSpPr>
          <p:cNvPr id="5" name="TextBox 4"/>
          <p:cNvSpPr txBox="1"/>
          <p:nvPr/>
        </p:nvSpPr>
        <p:spPr>
          <a:xfrm>
            <a:off x="10789920" y="411480"/>
            <a:ext cx="822960" cy="365760"/>
          </a:xfrm>
          <a:prstGeom prst="rect">
            <a:avLst/>
          </a:prstGeom>
          <a:noFill/>
        </p:spPr>
        <p:txBody>
          <a:bodyPr wrap="none">
            <a:spAutoFit/>
          </a:bodyPr>
          <a:lstStyle/>
          <a:p>
            <a:pPr algn="r">
              <a:defRPr sz="1150" b="1">
                <a:solidFill>
                  <a:srgbClr val="00F0FF"/>
                </a:solidFill>
              </a:defRPr>
            </a:pPr>
            <a:r>
              <a:t>11 / 12</a:t>
            </a:r>
          </a:p>
        </p:txBody>
      </p:sp>
      <p:sp>
        <p:nvSpPr>
          <p:cNvPr id="6" name="Rounded Rectangle 5"/>
          <p:cNvSpPr/>
          <p:nvPr/>
        </p:nvSpPr>
        <p:spPr>
          <a:xfrm>
            <a:off x="731520" y="1600200"/>
            <a:ext cx="4114800" cy="2194560"/>
          </a:xfrm>
          <a:prstGeom prst="roundRect">
            <a:avLst/>
          </a:prstGeom>
          <a:solidFill>
            <a:srgbClr val="0B2538"/>
          </a:solidFill>
          <a:ln w="1524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09928"/>
            <a:ext cx="3840480" cy="1975104"/>
          </a:xfrm>
          <a:prstGeom prst="rect">
            <a:avLst/>
          </a:prstGeom>
          <a:noFill/>
        </p:spPr>
        <p:txBody>
          <a:bodyPr wrap="square">
            <a:spAutoFit/>
          </a:bodyPr>
          <a:lstStyle/>
          <a:p>
            <a:pPr>
              <a:spcAft>
                <a:spcPts val="400"/>
              </a:spcAft>
              <a:defRPr sz="1100" b="1">
                <a:solidFill>
                  <a:srgbClr val="00F0FF"/>
                </a:solidFill>
              </a:defRPr>
            </a:pPr>
            <a:r>
              <a:t>Core Paradigm Breakthrough</a:t>
            </a:r>
          </a:p>
          <a:p>
            <a:pPr>
              <a:spcAft>
                <a:spcPts val="300"/>
              </a:spcAft>
              <a:defRPr sz="900">
                <a:solidFill>
                  <a:srgbClr val="FFFFFF"/>
                </a:solidFill>
              </a:defRPr>
            </a:pPr>
            <a:r>
              <a:t>• Core Breakthrough: OTP Readout != Secret Recovery</a:t>
            </a:r>
          </a:p>
          <a:p>
            <a:pPr>
              <a:spcAft>
                <a:spcPts val="300"/>
              </a:spcAft>
              <a:defRPr sz="900">
                <a:solidFill>
                  <a:srgbClr val="FFFFFF"/>
                </a:solidFill>
              </a:defRPr>
            </a:pPr>
            <a:r>
              <a:t>• Permanent Retention: Scrambled AES-256 ciphertext in AntiFuse</a:t>
            </a:r>
          </a:p>
          <a:p>
            <a:pPr>
              <a:spcAft>
                <a:spcPts val="300"/>
              </a:spcAft>
              <a:defRPr sz="900">
                <a:solidFill>
                  <a:srgbClr val="FFFFFF"/>
                </a:solidFill>
              </a:defRPr>
            </a:pPr>
            <a:r>
              <a:t>• Ephemeral Root: SRAM PUF dynamically reconstructed at boot</a:t>
            </a:r>
          </a:p>
          <a:p>
            <a:pPr>
              <a:spcAft>
                <a:spcPts val="300"/>
              </a:spcAft>
              <a:defRPr sz="900">
                <a:solidFill>
                  <a:srgbClr val="FFFFFF"/>
                </a:solidFill>
              </a:defRPr>
            </a:pPr>
            <a:r>
              <a:t>• Invasive Resilience: Eliminates FIB, PVC &amp; voltage glitch risks</a:t>
            </a:r>
          </a:p>
        </p:txBody>
      </p:sp>
      <p:sp>
        <p:nvSpPr>
          <p:cNvPr id="8" name="Rounded Rectangle 7"/>
          <p:cNvSpPr/>
          <p:nvPr/>
        </p:nvSpPr>
        <p:spPr>
          <a:xfrm>
            <a:off x="731520" y="3931920"/>
            <a:ext cx="4114800" cy="2240280"/>
          </a:xfrm>
          <a:prstGeom prst="roundRect">
            <a:avLst/>
          </a:prstGeom>
          <a:solidFill>
            <a:srgbClr val="0B2538"/>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041648"/>
            <a:ext cx="3840480" cy="2020824"/>
          </a:xfrm>
          <a:prstGeom prst="rect">
            <a:avLst/>
          </a:prstGeom>
          <a:noFill/>
        </p:spPr>
        <p:txBody>
          <a:bodyPr wrap="square">
            <a:spAutoFit/>
          </a:bodyPr>
          <a:lstStyle/>
          <a:p>
            <a:pPr>
              <a:spcAft>
                <a:spcPts val="400"/>
              </a:spcAft>
              <a:defRPr sz="1100" b="1">
                <a:solidFill>
                  <a:srgbClr val="10B981"/>
                </a:solidFill>
              </a:defRPr>
            </a:pPr>
            <a:r>
              <a:t>Strategic Business &amp; Time-to-Market Value</a:t>
            </a:r>
          </a:p>
          <a:p>
            <a:pPr>
              <a:spcAft>
                <a:spcPts val="300"/>
              </a:spcAft>
              <a:defRPr sz="900">
                <a:solidFill>
                  <a:srgbClr val="FFFFFF"/>
                </a:solidFill>
              </a:defRPr>
            </a:pPr>
            <a:r>
              <a:t>• Drastically mitigates multi-million dollar post-silicon re-spin risk</a:t>
            </a:r>
          </a:p>
          <a:p>
            <a:pPr>
              <a:spcAft>
                <a:spcPts val="300"/>
              </a:spcAft>
              <a:defRPr sz="900">
                <a:solidFill>
                  <a:srgbClr val="FFFFFF"/>
                </a:solidFill>
              </a:defRPr>
            </a:pPr>
            <a:r>
              <a:t>• Accelerates time-to-market for mission-critical AI, Auto &amp; HPC</a:t>
            </a:r>
          </a:p>
          <a:p>
            <a:pPr>
              <a:spcAft>
                <a:spcPts val="300"/>
              </a:spcAft>
              <a:defRPr sz="900">
                <a:solidFill>
                  <a:srgbClr val="FFFFFF"/>
                </a:solidFill>
              </a:defRPr>
            </a:pPr>
            <a:r>
              <a:t>• Single accountable IP contract simplifies security compliance</a:t>
            </a:r>
          </a:p>
          <a:p>
            <a:pPr>
              <a:spcAft>
                <a:spcPts val="300"/>
              </a:spcAft>
              <a:defRPr sz="900">
                <a:solidFill>
                  <a:srgbClr val="FFFFFF"/>
                </a:solidFill>
              </a:defRPr>
            </a:pPr>
            <a:r>
              <a:t>• Engage today for target node macro specs and evaluation kits</a:t>
            </a:r>
          </a:p>
        </p:txBody>
      </p:sp>
      <p:pic>
        <p:nvPicPr>
          <p:cNvPr id="10" name="Picture 9" descr="ai_visual_slide_11.jpg"/>
          <p:cNvPicPr>
            <a:picLocks noChangeAspect="1"/>
          </p:cNvPicPr>
          <p:nvPr/>
        </p:nvPicPr>
        <p:blipFill>
          <a:blip r:embed="rId2"/>
          <a:stretch>
            <a:fillRect/>
          </a:stretch>
        </p:blipFill>
        <p:spPr>
          <a:xfrm>
            <a:off x="5029200" y="1600200"/>
            <a:ext cx="6400800" cy="4572000"/>
          </a:xfrm>
          <a:prstGeom prst="rect">
            <a:avLst/>
          </a:prstGeom>
        </p:spPr>
      </p:pic>
      <p:sp>
        <p:nvSpPr>
          <p:cNvPr id="11" name="TextBox 10"/>
          <p:cNvSpPr txBox="1"/>
          <p:nvPr/>
        </p:nvSpPr>
        <p:spPr>
          <a:xfrm>
            <a:off x="731520" y="6355080"/>
            <a:ext cx="6858000" cy="274320"/>
          </a:xfrm>
          <a:prstGeom prst="rect">
            <a:avLst/>
          </a:prstGeom>
          <a:noFill/>
        </p:spPr>
        <p:txBody>
          <a:bodyPr wrap="none">
            <a:spAutoFit/>
          </a:bodyPr>
          <a:lstStyle/>
          <a:p>
            <a:pPr>
              <a:defRPr sz="800">
                <a:solidFill>
                  <a:srgbClr val="94A3B8"/>
                </a:solidFill>
              </a:defRPr>
            </a:pPr>
            <a:r>
              <a:t>TSMC OIP TECHNICAL BRIEFING  |  SECURE STORAGE ARCHITECTURES  |  CONFIDENTIAL</a:t>
            </a:r>
          </a:p>
        </p:txBody>
      </p:sp>
      <p:sp>
        <p:nvSpPr>
          <p:cNvPr id="12" name="TextBox 11"/>
          <p:cNvSpPr txBox="1"/>
          <p:nvPr/>
        </p:nvSpPr>
        <p:spPr>
          <a:xfrm>
            <a:off x="6858000" y="6355080"/>
            <a:ext cx="4572000" cy="274320"/>
          </a:xfrm>
          <a:prstGeom prst="rect">
            <a:avLst/>
          </a:prstGeom>
          <a:noFill/>
        </p:spPr>
        <p:txBody>
          <a:bodyPr wrap="none">
            <a:spAutoFit/>
          </a:bodyPr>
          <a:lstStyle/>
          <a:p>
            <a:pPr algn="r">
              <a:defRPr sz="800" b="1">
                <a:solidFill>
                  <a:srgbClr val="38BDF8"/>
                </a:solidFill>
              </a:defRPr>
            </a:pPr>
            <a:r>
              <a:t>Next Step: Agree the evidence plan for target node, macro configuration and SoC boundary.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61B29"/>
        </a:solidFill>
        <a:effectLst/>
      </p:bgPr>
    </p:bg>
    <p:spTree>
      <p:nvGrpSpPr>
        <p:cNvPr id="1" name=""/>
        <p:cNvGrpSpPr/>
        <p:nvPr/>
      </p:nvGrpSpPr>
      <p:grpSpPr/>
      <p:sp>
        <p:nvSpPr>
          <p:cNvPr id="2" name="TextBox 1"/>
          <p:cNvSpPr txBox="1"/>
          <p:nvPr/>
        </p:nvSpPr>
        <p:spPr>
          <a:xfrm>
            <a:off x="731520" y="365760"/>
            <a:ext cx="9601200" cy="320040"/>
          </a:xfrm>
          <a:prstGeom prst="rect">
            <a:avLst/>
          </a:prstGeom>
          <a:noFill/>
        </p:spPr>
        <p:txBody>
          <a:bodyPr wrap="square">
            <a:spAutoFit/>
          </a:bodyPr>
          <a:lstStyle/>
          <a:p>
            <a:pPr>
              <a:defRPr sz="1000" b="1">
                <a:solidFill>
                  <a:srgbClr val="00F0FF"/>
                </a:solidFill>
              </a:defRPr>
            </a:pPr>
            <a:r>
              <a:t>APPENDIX / THREAT DEEP-DIVE</a:t>
            </a:r>
          </a:p>
        </p:txBody>
      </p:sp>
      <p:sp>
        <p:nvSpPr>
          <p:cNvPr id="3" name="TextBox 2"/>
          <p:cNvSpPr txBox="1"/>
          <p:nvPr/>
        </p:nvSpPr>
        <p:spPr>
          <a:xfrm>
            <a:off x="731520" y="658368"/>
            <a:ext cx="9601200" cy="548640"/>
          </a:xfrm>
          <a:prstGeom prst="rect">
            <a:avLst/>
          </a:prstGeom>
          <a:noFill/>
        </p:spPr>
        <p:txBody>
          <a:bodyPr wrap="square">
            <a:spAutoFit/>
          </a:bodyPr>
          <a:lstStyle/>
          <a:p>
            <a:pPr>
              <a:defRPr sz="1800" b="1">
                <a:solidFill>
                  <a:srgbClr val="FFFFFF"/>
                </a:solidFill>
              </a:defRPr>
            </a:pPr>
            <a:r>
              <a:t>Technical Deep-Dive: RP2350 Attack Paths &amp; Countermeasures</a:t>
            </a:r>
          </a:p>
        </p:txBody>
      </p:sp>
      <p:sp>
        <p:nvSpPr>
          <p:cNvPr id="4" name="TextBox 3"/>
          <p:cNvSpPr txBox="1"/>
          <p:nvPr/>
        </p:nvSpPr>
        <p:spPr>
          <a:xfrm>
            <a:off x="731520" y="1188720"/>
            <a:ext cx="9601200" cy="320040"/>
          </a:xfrm>
          <a:prstGeom prst="rect">
            <a:avLst/>
          </a:prstGeom>
          <a:noFill/>
        </p:spPr>
        <p:txBody>
          <a:bodyPr wrap="square">
            <a:spAutoFit/>
          </a:bodyPr>
          <a:lstStyle/>
          <a:p>
            <a:pPr>
              <a:defRPr sz="1050">
                <a:solidFill>
                  <a:srgbClr val="94A3B8"/>
                </a:solidFill>
              </a:defRPr>
            </a:pPr>
            <a:r>
              <a:t>Comprehensive Failure Mode Analysis and Secure Storage Architectural Responses</a:t>
            </a:r>
          </a:p>
        </p:txBody>
      </p:sp>
      <p:sp>
        <p:nvSpPr>
          <p:cNvPr id="5" name="TextBox 4"/>
          <p:cNvSpPr txBox="1"/>
          <p:nvPr/>
        </p:nvSpPr>
        <p:spPr>
          <a:xfrm>
            <a:off x="10789920" y="411480"/>
            <a:ext cx="822960" cy="365760"/>
          </a:xfrm>
          <a:prstGeom prst="rect">
            <a:avLst/>
          </a:prstGeom>
          <a:noFill/>
        </p:spPr>
        <p:txBody>
          <a:bodyPr wrap="none">
            <a:spAutoFit/>
          </a:bodyPr>
          <a:lstStyle/>
          <a:p>
            <a:pPr algn="r">
              <a:defRPr sz="1150" b="1">
                <a:solidFill>
                  <a:srgbClr val="00F0FF"/>
                </a:solidFill>
              </a:defRPr>
            </a:pPr>
            <a:r>
              <a:t>12 / 12</a:t>
            </a:r>
          </a:p>
        </p:txBody>
      </p:sp>
      <p:sp>
        <p:nvSpPr>
          <p:cNvPr id="6" name="Rounded Rectangle 5"/>
          <p:cNvSpPr/>
          <p:nvPr/>
        </p:nvSpPr>
        <p:spPr>
          <a:xfrm>
            <a:off x="731520" y="1600200"/>
            <a:ext cx="4114800" cy="2194560"/>
          </a:xfrm>
          <a:prstGeom prst="roundRect">
            <a:avLst/>
          </a:prstGeom>
          <a:solidFill>
            <a:srgbClr val="0B2538"/>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09928"/>
            <a:ext cx="3840480" cy="1975104"/>
          </a:xfrm>
          <a:prstGeom prst="rect">
            <a:avLst/>
          </a:prstGeom>
          <a:noFill/>
        </p:spPr>
        <p:txBody>
          <a:bodyPr wrap="square">
            <a:spAutoFit/>
          </a:bodyPr>
          <a:lstStyle/>
          <a:p>
            <a:pPr>
              <a:spcAft>
                <a:spcPts val="400"/>
              </a:spcAft>
              <a:defRPr sz="1100" b="1">
                <a:solidFill>
                  <a:srgbClr val="EF4444"/>
                </a:solidFill>
              </a:defRPr>
            </a:pPr>
            <a:r>
              <a:t>RP2350 Physical Attack Vector Analysis</a:t>
            </a:r>
          </a:p>
          <a:p>
            <a:pPr>
              <a:spcAft>
                <a:spcPts val="300"/>
              </a:spcAft>
              <a:defRPr sz="900">
                <a:solidFill>
                  <a:srgbClr val="FFFFFF"/>
                </a:solidFill>
              </a:defRPr>
            </a:pPr>
            <a:r>
              <a:t>• Path 1 (Fault Injection): Glitched VDD at boot to bypass lock checks</a:t>
            </a:r>
          </a:p>
          <a:p>
            <a:pPr>
              <a:spcAft>
                <a:spcPts val="300"/>
              </a:spcAft>
              <a:defRPr sz="900">
                <a:solidFill>
                  <a:srgbClr val="FFFFFF"/>
                </a:solidFill>
              </a:defRPr>
            </a:pPr>
            <a:r>
              <a:t>• Path 2 (Invasive Probing): FIB/PVC imaged antifuse breakdown bits</a:t>
            </a:r>
          </a:p>
          <a:p>
            <a:pPr>
              <a:spcAft>
                <a:spcPts val="300"/>
              </a:spcAft>
              <a:defRPr sz="900">
                <a:solidFill>
                  <a:srgbClr val="FFFFFF"/>
                </a:solidFill>
              </a:defRPr>
            </a:pPr>
            <a:r>
              <a:t>• Path 3 (Sensor Evasion): Shaped glitch transients bypassed detectors</a:t>
            </a:r>
          </a:p>
          <a:p>
            <a:pPr>
              <a:spcAft>
                <a:spcPts val="300"/>
              </a:spcAft>
              <a:defRPr sz="900">
                <a:solidFill>
                  <a:srgbClr val="FFFFFF"/>
                </a:solidFill>
              </a:defRPr>
            </a:pPr>
            <a:r>
              <a:t>• Path 4 (Impact): Plain OTP exposed plaintext keys &amp; boot secrets</a:t>
            </a:r>
          </a:p>
        </p:txBody>
      </p:sp>
      <p:sp>
        <p:nvSpPr>
          <p:cNvPr id="8" name="Rounded Rectangle 7"/>
          <p:cNvSpPr/>
          <p:nvPr/>
        </p:nvSpPr>
        <p:spPr>
          <a:xfrm>
            <a:off x="731520" y="3931920"/>
            <a:ext cx="4114800" cy="2240280"/>
          </a:xfrm>
          <a:prstGeom prst="roundRect">
            <a:avLst/>
          </a:prstGeom>
          <a:solidFill>
            <a:srgbClr val="0B2538"/>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041648"/>
            <a:ext cx="3840480" cy="2020824"/>
          </a:xfrm>
          <a:prstGeom prst="rect">
            <a:avLst/>
          </a:prstGeom>
          <a:noFill/>
        </p:spPr>
        <p:txBody>
          <a:bodyPr wrap="square">
            <a:spAutoFit/>
          </a:bodyPr>
          <a:lstStyle/>
          <a:p>
            <a:pPr>
              <a:spcAft>
                <a:spcPts val="400"/>
              </a:spcAft>
              <a:defRPr sz="1100" b="1">
                <a:solidFill>
                  <a:srgbClr val="10B981"/>
                </a:solidFill>
              </a:defRPr>
            </a:pPr>
            <a:r>
              <a:t>Secure Storage Defense Closure</a:t>
            </a:r>
          </a:p>
          <a:p>
            <a:pPr>
              <a:spcAft>
                <a:spcPts val="300"/>
              </a:spcAft>
              <a:defRPr sz="900">
                <a:solidFill>
                  <a:srgbClr val="FFFFFF"/>
                </a:solidFill>
              </a:defRPr>
            </a:pPr>
            <a:r>
              <a:t>• Response 1: All OTP data is AES-256 encrypted; bypassing locks yields cipher</a:t>
            </a:r>
          </a:p>
          <a:p>
            <a:pPr>
              <a:spcAft>
                <a:spcPts val="300"/>
              </a:spcAft>
              <a:defRPr sz="900">
                <a:solidFill>
                  <a:srgbClr val="FFFFFF"/>
                </a:solidFill>
              </a:defRPr>
            </a:pPr>
            <a:r>
              <a:t>• Response 2: Pseudo-random address scrambling destroys bit regularity</a:t>
            </a:r>
          </a:p>
          <a:p>
            <a:pPr>
              <a:spcAft>
                <a:spcPts val="300"/>
              </a:spcAft>
              <a:defRPr sz="900">
                <a:solidFill>
                  <a:srgbClr val="FFFFFF"/>
                </a:solidFill>
              </a:defRPr>
            </a:pPr>
            <a:r>
              <a:t>• Response 3: Mathematical confidentiality replaces reliance on reactive sensors</a:t>
            </a:r>
          </a:p>
          <a:p>
            <a:pPr>
              <a:spcAft>
                <a:spcPts val="300"/>
              </a:spcAft>
              <a:defRPr sz="900">
                <a:solidFill>
                  <a:srgbClr val="FFFFFF"/>
                </a:solidFill>
              </a:defRPr>
            </a:pPr>
            <a:r>
              <a:t>• Response 4: SRAM PUF dynamic key vanishes at power-off, zero at-rest secret</a:t>
            </a:r>
          </a:p>
        </p:txBody>
      </p:sp>
      <p:pic>
        <p:nvPicPr>
          <p:cNvPr id="10" name="Picture 9" descr="ai_visual_slide_12.jpg"/>
          <p:cNvPicPr>
            <a:picLocks noChangeAspect="1"/>
          </p:cNvPicPr>
          <p:nvPr/>
        </p:nvPicPr>
        <p:blipFill>
          <a:blip r:embed="rId2"/>
          <a:stretch>
            <a:fillRect/>
          </a:stretch>
        </p:blipFill>
        <p:spPr>
          <a:xfrm>
            <a:off x="5029200" y="1600200"/>
            <a:ext cx="6400800" cy="4572000"/>
          </a:xfrm>
          <a:prstGeom prst="rect">
            <a:avLst/>
          </a:prstGeom>
        </p:spPr>
      </p:pic>
      <p:sp>
        <p:nvSpPr>
          <p:cNvPr id="11" name="TextBox 10"/>
          <p:cNvSpPr txBox="1"/>
          <p:nvPr/>
        </p:nvSpPr>
        <p:spPr>
          <a:xfrm>
            <a:off x="731520" y="6355080"/>
            <a:ext cx="6858000" cy="274320"/>
          </a:xfrm>
          <a:prstGeom prst="rect">
            <a:avLst/>
          </a:prstGeom>
          <a:noFill/>
        </p:spPr>
        <p:txBody>
          <a:bodyPr wrap="none">
            <a:spAutoFit/>
          </a:bodyPr>
          <a:lstStyle/>
          <a:p>
            <a:pPr>
              <a:defRPr sz="800">
                <a:solidFill>
                  <a:srgbClr val="94A3B8"/>
                </a:solidFill>
              </a:defRPr>
            </a:pPr>
            <a:r>
              <a:t>TSMC OIP TECHNICAL BRIEFING  |  SECURE STORAGE ARCHITECTURES  |  CONFIDENTIAL</a:t>
            </a:r>
          </a:p>
        </p:txBody>
      </p:sp>
      <p:sp>
        <p:nvSpPr>
          <p:cNvPr id="12" name="TextBox 11"/>
          <p:cNvSpPr txBox="1"/>
          <p:nvPr/>
        </p:nvSpPr>
        <p:spPr>
          <a:xfrm>
            <a:off x="6858000" y="6355080"/>
            <a:ext cx="4572000" cy="274320"/>
          </a:xfrm>
          <a:prstGeom prst="rect">
            <a:avLst/>
          </a:prstGeom>
          <a:noFill/>
        </p:spPr>
        <p:txBody>
          <a:bodyPr wrap="none">
            <a:spAutoFit/>
          </a:bodyPr>
          <a:lstStyle/>
          <a:p>
            <a:pPr algn="r">
              <a:defRPr sz="800" b="1">
                <a:solidFill>
                  <a:srgbClr val="38BDF8"/>
                </a:solidFill>
              </a:defRPr>
            </a:pPr>
            <a:r>
              <a:t>Use in Q&amp;A if asked about technical trigger and failure-analysis attack countermeasures.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